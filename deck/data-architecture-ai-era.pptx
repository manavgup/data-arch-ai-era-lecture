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This is a working session, not a PowerPoint marathon. You have six Jupyter notebooks in front of you. By the end of today, you'll know which data architecture pattern to propose for any customer conversation — and you'll have run the code to prove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thesis. Not "your architecture is bad" — it was right for 2019. But AI changed the read patterns, the latency budgets, and what counts as data. Today we fix the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everyone has seen 400 times. Today is the day someone explains it to you. Every block of this lecture will light up different swimlanes. By the end, you'll have the whole diagram populated in your head — and you'll know which swimlane to point at for any customer conversation. Let me walk you through it at 30,000 feet.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diagram, now with the actual IBM products named. watsonx.data is in the center — the analytical storage lane. Presto, Spark, Db2 are query engines. Knowledge Catalog is the governance rail on the left. The right rail shows this deploys on IBM Cloud, on-premise, or a hyper-converged single-node stack for teaching. Every product maps to one lane.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rules: interrupt freely. We have two live notebooks in Block 4, two notebook cameos in Block 1, and one architecture critique exercise. If I'm boring you, say so — this is a working session.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 1 is the foundation. If you already know what a lakehouse is, stay with me anyway — I'm going to reframe it. If you don't know what a lakehouse is, you will in 45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generation solved the previous generation's scaling problem and created a new governance problem. Warehouses solved OLTP reporting but couldn't handle unstructured data. Lakes solved storage cost but created swamps. Lakehouses added ACID but didn't solve org design. Mesh solved org design but assumed product thinking maturity nobody had. Fabric tries to automate the governance layer. The cycle continues.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people teach four primitives and leave out observability. That was fine when data pipelines ran overnight and you checked them in the morning. It's not fine when an agent loop needs fresh data in milliseconds. Observability is now first-class — quality monitoring, freshness SLOs, schema drift detection. Three layers: data observability, model observability, agent trace observability. Most orgs have one of the three. Almost nobody has all three.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Memorize this table. When a customer describes their problem, you should be able to point at the right row in under 10 seconds. The anti-pattern column is more important than the "best for" column — knowing when NOT to propose a pattern is what separates a seller from a consultant.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the warehouse pattern looks like on the reference architecture. Only the structured sources light up. Ingestion is DataStage and replication. Storage is Db2 Warehouse with star schemas — no object storage, no Iceberg. Data Access and Analytics In-Motion are dimmed — warehouse is batch SQL. The consumption layer is narrow: Cognos BI, reports, planning.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lake. Cheap storage for everything. Parquet, JSON, CSV, PDFs — dump it all in and figure out the schema later. No ACID means no rollback, no isolation, no history. That is why 60% of bank-built lakes became swamps within three years.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cheap storage, but now with Iceberg on top. ACID means two writers cannot corrupt each other. Schema evolution means adding a column is not a two-week project. Time travel means the regulator asks what did it look like on March 15th and you answer in one query.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Mesh is not a technology — it is an org chart expressed in storage. Each domain owns its lakehouse and publishes data products with contracts. The platform team provides the runway.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Fabric is the meta-pattern. It does not replace the others — it automates the governance layer across all of them. AI-assisted classification, automated lineage, self-serve discovery. This is where IBM Knowledge Catalog plays.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patterns, one slide. Warehouse is structured, schema-on-write. Lake is cheap and raw, schema-on-read. Lakehouse adds ACID and time travel. Virtualization federates without moving data. Mesh is domain ownership with contracts. Fabric is the AI governance meta-layer.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napkin matrix. When a customer describes their workload, find the row. The columns tell you which pattern to propose. Most banks need at least three of these running simultaneously. The question is never which one — it's which combination.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pattern has trade-offs. Warehouse gives you consistency but can't handle unstructured data. Lake is cheap but ungoverned. Lakehouse is the pragmatic middle but needs Iceberg skill. Virtualization is elegant but breaks on heavy scans. Mesh is powerful but takes 18 months. Fabric governs everything but is overkill for simple estates. Know the trade-offs before you pitch.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notebooks. They're real. They run. This is the warehouse query — branch transaction volume for Q3 2024. Clean SQL, fast results, no surprises. This is what the warehouse does well. Now watch what happens when we try Q2 — finding customers whose policy documents reference an AML procedure. The warehouse stores the PDF as a BLOB. It cannot read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misunderstood pattern. Everyone nods at "federated queries" in the reference architecture. Nobody believes it actually works until they see it. Watch: we're joining Postgres and Iceberg data through Trino. No ETL. No copies. One SQL query. Now — before you sell this to every customer — read the EXPLAIN plan. That's where the truth lives.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Canadian bank has a 10-year MDM program that's "almost done." Agentic AI just made it urgent again. When your agent needs to answer "who is this customer?" across four systems — core banking, CRM, AML, branch records — it needs entity resolution. That's MDM. Not glamorous. Absolutely foundational. If your customer's MDM is broken, don't sell them RAG. Sell them MDM first.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you're positioning this with a customer, point at the Analytical Data Management &amp; Storage lane. watsonx.data is the anchor. If they're on z/OS, it's Db2 for z/OS. If they want modern open formats, it's Iceberg on watsonx.data with Presto. The federation story is Data Virtualization or Presto connectors joining sources without copying.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reference architecture again, but now with only the storage and access lanes lit. This is what Block 1 was about. watsonx.data sits in the big blue box in the center. The connectors reach left to the sources and right to the query engines. The governance band at the bottom — we'll light that up in Block 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setup. Five patterns, each solving a real problem, each with a clear failure mode. Now let's talk about what AI changed — and what the reference architecture needs that isn't on the diagram yet.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Block 1 was the foundation, Block 2 is why we're all here. AI changed what data architecture means. New data types, new latency requirements, new governance problems. Let me show you what changed and what the reference architecture needs that isn't on the diagram yet.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patterns flipped. In the BI era, you scanned tables and aggregated. In the AI era, you retrieve passages and assemble context. Latency budgets collapsed from minutes to milliseconds. And 80% of enterprise data — the PDFs, the emails, the contracts — went from "unusable for analytics" to "primary fuel for AI." That's the unstructured data tax. Every bank has it. Most haven't paid it yet.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pipeline. Every step can fail. Chunking is where dreams die — split too aggressively and you lose context, split too conservatively and you drown the model in noise. Pure vector retrieval is what consultants sell. Hybrid retrieval — BM25 plus vector plus reranker — is what works. Let me show you each layer.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Docling is the answer to "how do I get PDFs into my RAG pipeline without losing the table structure?" Naive OCR reads left to right and destroys multi-column layouts. Docling understands the visual structure — it knows that the table on page 7 has four columns, not eight. The OpenShift Operator means your bank can run it on-prem, air-gapped, with no data leaving the building. That's the pitch.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 vector RAG is a myth. I've never seen it work in production at a bank. The compliance officer searches for "PCMLTFA Section 7 obligation for EFTs over $1000" — that's a keyword search, not a semantic one. You need BM25 for exact terms AND vector for conceptual similarity AND a reranker to sort the results. OpenSearch does all three. That's why it's in the reference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benchmarking vector stores. Start asking: does my team know how to operate this in production? Pinecone is zero-ops but vendor-locked. OpenSearch is self-managed but does hybrid. pgvector is free but not built for scale. Pick based on your ops maturity, not someone else's benchmark.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"Should we RAG or fine-tune?" is the question every customer asks. The answer is: neither, both, and it depends. The real question is context engineering — what goes in the context window, in what order, with what provenance. That's a data architecture problem. Tool registries, memory stores, trace logs, eval sets — these are the new data products. If you're an architect, this is your job now.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new data products that didn't exist three years ago. Every one of these needs storage, versioning, access control, and lineage. If you're a data architect, this is your new backlog. If you're a seller, this is the expansion play after the initial RAG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 buyers are done with lock-in. They want to swap the embedding model without rewriting the pipeline. They want to change the vector store without losing the index. Open RAG means: Parquet for structured data, Docling for document extraction, OpenSearch for hybrid retrieval, and any LLM behind the generation step. IBM's play is the open stack. Position it against the closed alternatives where every component is vendor-locked.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 Model Context Protocol — is what JDBC was for databases. One standard interface so agents can call tools without caring about the implementation. Before JDBC, every database had its own wire protocol and every app was hardcoded to one vendor. Before MCP, every agent framework had its own tool-calling convention. MCP standardizes it. If you're selling data architecture, MCP is how your customer's data becomes accessible to agents.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disclosure: I'm a contributor to Context Forge. This is the missing layer in the reference architecture — and I say that knowing the published diagram doesn't have it yet. When your agent calls a tool that queries customer data, who approved it? What's the blast radius? Where's the audit trail? Context Forge answers these questions. The plugin model means you can add governance capabilities without rewriting your agent.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Docling in action. This is one of our 10 synthetic AML policy PDFs. Watch the output — it preserves the section headings, the table structure, the reading order. This is what goes into the chunking step. If you've ever seen a RAG pipeline that chops documents into 512-character windows regardless of structure — this is the fix.</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diagram again. Now we've lit up the AI and analytics lanes — Watson Studio, watsonx.ai, the ML pipelines. Notice two annotations I've added. First: Docling, sitting in the Ingestion &amp; Integration lane — it's how unstructured documents enter the pipeline. Second: Context Forge, below the governance band — it's the agent control plane that the published diagram doesn't include yet. You're ahead of the published material. Use that in customer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that sink in. Three different problems, three different toolchains, three different teams. After the break, we're going to light up the bottom three bands of the reference architecture and talk about what "governed" actually means in Canada.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This block is the one that makes the compliance team lean forward. We're going to talk about what "regulated" actually means, why every reference architecture you see online is wrong for a Canadian bank, and why agents just made the threat model worse.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governance is table-stakes — every bank has Knowledge Catalog, lineage, quality rules. AI governance is emerging — model risk management, OSFI E-23, bias detection, drift monitoring. Agent governance is brand new — who authorized this agent to call this tool? What's the blast radius? Where's the kill switch? Treating these as one problem is how you end up with a governance framework that covers data lineage perfectly but has no idea an agent just exfiltrated PII via a tool call.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I show a reference architecture at a US tech conference, everyone nods. When I show it at a Canadian bank, the CISO asks "where's the data residency boundary?" and the model risk officer asks "where's the E-23 mapping?" and the privacy officer asks "where's the PIPEDA consent flow?" Every reference architecture you see online is wrong for a Canadian bank. Today we fix that.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different things, frequently confused. A Canadian bank can use AWS in Montreal (residency) but the data is still subject to the US CLOUD Act (sovereignty gap). Operational sovereignty means a Canadian team runs the infrastructure — not an offshore NOC. "Sovereignty, not solitude" — you can use public cloud, but you need to know which of these three you're actually getting.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triad: data observability, model observability, agent trace observability. Three layers, frequently confused, rarely all instrumented. Most banks have data observability (at least for their warehouse pipelines). Some have model observability (watsonx.governance does this). Almost none have agent trace observability — logging every tool call, every context assembly, every generation. That's the gap.</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framework has 75 sub-capabilities across 10 domains. We don't have time to go through all of them today, but I want you to know it exists. When a customer asks "how do we govern our agents?" — this is the answer. It maps to a real bank's 80-domain questionnaire. Context Forge implements it as plugins.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can't name the banks. But I can tell you the pattern. One Big Five bank builds governance from privacy outward. Another starts from model risk (E-23 compliance). A third starts from operational risk. They all end up in the same place — a framework that covers data, AI, and agent governance — but they get there from different starting points. When you're in front of the customer, ask which door they came through. That tells you how to position.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watsonx.governance is where model risk management lives. AI Factsheets document what the model does, who trained it, what data it saw, and what its known failure modes are. Orchestrate handles the human-in-the-loop workflows — when the model says "I'm not sure," Orchestrate routes it to a human. Context Forge extends this to agents — same idea, but for autonomous tool calls instead of model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agent calls a tool, it's executing code with privileges. If the agent is compromised via prompt injection, the attacker inherits those privileges. That's lateral movement via tool chain — the agent becomes the attack vector. This is why the control plane needs identity (who is this agent acting for?), authorization (what tools can it call?), audit (what did it actually call?), and a kill switch (stop everything, now). The named-partner ecosystem is converging on these requirements. We're not ahead of everyone, but we're not behind either.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time with the diagram. Now we've lit up the bottom three bands — governance, security, and deployment. This is where IBM's differentiation is strongest. Knowledge Catalog, Data Lineage, MDM/Match 360, AI Factsheets, Guardium, OpenShift. When the CISO asks "who controls this?" — point here.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going to be honest about where we're strong and where we're catching up. Knowledge Catalog is best-in-class for data governance. watsonx.governance is strong for model risk. MDM/Match 360 is the entity resolution play nobody else has. Where we're catching up: agent control plane (Context Forge is the answer, but it's early), agent trace observability, and the competitive vector store landscape. When you're in a customer conversation, lead with governance — that's where we win.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turn. We're going to run two notebooks live — the lakehouse and the AI-era capstone. Then you're going to critique an architecture that someone actually shipped to a healthcare customer. Buckle up.</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look at the diagram. You've now seen all five swimlane groups lit up. Now we're going to exercise them in code. The scenario: Maple Trust Bank needs an AML policy Q&amp;A system with full lineage and audit. Two notebooks, two patterns, one story.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map. Each notebook lights up different swimlanes. We're going to run Notebook 3 (Lakehouse) and Notebook 6 (MDM + RAG) live. The other four are take-home — run them tonight, break them deliberately, build intuition.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cells top to bottom. Narrate the Iceberg schema evolution and time travel cells. Pause for questions after the partition pruning demo. If a cell fails, skip to pre-recorded output. (Full choreography will be in facilitator-guide.md — see Issue #16.)</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payoff of the whole day. Run the Docling PDF parsing cell first (takes 30-60s). Then the OpenSearch indexing. Then Q2 — the question every previous notebook deferred. Let the room see it work. Then show Break 2 (the eval scoring) to prove we're honest about the limits. (Full choreography will be in facilitator-guide.md — see Issue #16.)</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Names and details are anonymized. The pattern is real. Welcome to enterprise AI. You have 10 minutes with your group. Use the worksheet. Severity: critical, high, medium. Category: data, AI, governance, security, ops. Go.</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slide. One sentence. This is the thing you take back to your customer. Not "buy watsonx" — that's the how. The what is: your data architecture IS the integration contract between your enterprise and your agents. If the contract is broken, nothing else works. If the contract is solid, everything else follows.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Do them Monday. Sellers: the next time you're about to say "AI" in a pitch, replace it with "data plane." Architects: audit your context engineering, not just your RAG pipeline. SSRs: every outage is a governance question now — which swimlane broke, and who owns it?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these are live links. The notebooks are on GitHub. Context Forge is open source. Docling is open source. factor10.ai is the 10 Principles of Enterprise AI. Bookmark them, share them with your customer's architect. These are the resources that make you credible.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The notebooks are on GitHub. The pattern decoder ring is your cheat sheet. When the customer says "we need to query across three systems without moving data," you know the answer is virtualization. When they say "we need ACID on the lake," it's lakehouse. When they say "our domains need autonomy," it's mesh — but only if they have the org maturity. Propose the pattern. Then back it with the product.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anchor="t"/>
          <a:lstStyle/>
          <a:p>
            <a:pPr algn="l"/>
            <a:r>
              <a:rPr sz="1000" b="0" i="0">
                <a:solidFill>
                  <a:srgbClr val="5C6470"/>
                </a:solidFill>
                <a:latin typeface="Consolas"/>
              </a:rPr>
              <a:t>A FIELD GUIDE · V1.0 · 2026    |    HALF-DAY · LECTURE + HANDS-ON</a:t>
            </a:r>
          </a:p>
        </p:txBody>
      </p:sp>
      <p:sp>
        <p:nvSpPr>
          <p:cNvPr id="3" name="TextBox 2"/>
          <p:cNvSpPr txBox="1"/>
          <p:nvPr/>
        </p:nvSpPr>
        <p:spPr>
          <a:xfrm>
            <a:off x="731520" y="1280160"/>
            <a:ext cx="10728655" cy="365760"/>
          </a:xfrm>
          <a:prstGeom prst="rect">
            <a:avLst/>
          </a:prstGeom>
          <a:noFill/>
        </p:spPr>
        <p:txBody>
          <a:bodyPr wrap="square" anchor="t"/>
          <a:lstStyle/>
          <a:p>
            <a:pPr algn="l"/>
            <a:r>
              <a:rPr sz="1100" b="1" i="0">
                <a:solidFill>
                  <a:srgbClr val="2D4ADE"/>
                </a:solidFill>
                <a:latin typeface="Consolas"/>
              </a:rPr>
              <a:t>VOLUME ONE — FOUNDATIONS</a:t>
            </a:r>
          </a:p>
        </p:txBody>
      </p:sp>
      <p:sp>
        <p:nvSpPr>
          <p:cNvPr id="4" name="TextBox 3"/>
          <p:cNvSpPr txBox="1"/>
          <p:nvPr/>
        </p:nvSpPr>
        <p:spPr>
          <a:xfrm>
            <a:off x="731520" y="1828800"/>
            <a:ext cx="10728655" cy="1828800"/>
          </a:xfrm>
          <a:prstGeom prst="rect">
            <a:avLst/>
          </a:prstGeom>
          <a:noFill/>
        </p:spPr>
        <p:txBody>
          <a:bodyPr wrap="square" anchor="t"/>
          <a:lstStyle/>
          <a:p>
            <a:pPr algn="l"/>
            <a:r>
              <a:rPr sz="4800" b="1" i="0">
                <a:solidFill>
                  <a:srgbClr val="15171A"/>
                </a:solidFill>
                <a:latin typeface="Georgia"/>
              </a:rPr>
              <a:t>Data Architecture
for the AI Era.</a:t>
            </a:r>
          </a:p>
        </p:txBody>
      </p:sp>
      <p:cxnSp>
        <p:nvCxnSpPr>
          <p:cNvPr id="5" name="Connector 4"/>
          <p:cNvCxnSpPr/>
          <p:nvPr/>
        </p:nvCxnSpPr>
        <p:spPr>
          <a:xfrm>
            <a:off x="731520" y="3840480"/>
            <a:ext cx="9144000" cy="0"/>
          </a:xfrm>
          <a:prstGeom prst="line">
            <a:avLst/>
          </a:prstGeom>
          <a:ln w="25400">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4114800"/>
            <a:ext cx="9144000" cy="914400"/>
          </a:xfrm>
          <a:prstGeom prst="rect">
            <a:avLst/>
          </a:prstGeom>
          <a:noFill/>
        </p:spPr>
        <p:txBody>
          <a:bodyPr wrap="square" anchor="t"/>
          <a:lstStyle/>
          <a:p>
            <a:pPr algn="l"/>
            <a:r>
              <a:rPr sz="2000" b="0" i="1">
                <a:solidFill>
                  <a:srgbClr val="3A3F47"/>
                </a:solidFill>
                <a:latin typeface="Georgia"/>
              </a:rPr>
              <a:t>A field guide for sellers, architects, and SSRs — six patterns, one BFSI scenario, six runnable notebooks.</a:t>
            </a:r>
          </a:p>
        </p:txBody>
      </p:sp>
      <p:cxnSp>
        <p:nvCxnSpPr>
          <p:cNvPr id="7" name="Connector 6"/>
          <p:cNvCxnSpPr/>
          <p:nvPr/>
        </p:nvCxnSpPr>
        <p:spPr>
          <a:xfrm>
            <a:off x="731520" y="57607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5943600"/>
            <a:ext cx="10728655" cy="274320"/>
          </a:xfrm>
          <a:prstGeom prst="rect">
            <a:avLst/>
          </a:prstGeom>
          <a:noFill/>
        </p:spPr>
        <p:txBody>
          <a:bodyPr wrap="square" anchor="t"/>
          <a:lstStyle/>
          <a:p>
            <a:pPr algn="l"/>
            <a:r>
              <a:rPr sz="1000" b="0" i="0">
                <a:solidFill>
                  <a:srgbClr val="5C6470"/>
                </a:solidFill>
                <a:latin typeface="Consolas"/>
              </a:rPr>
              <a:t>MAPLE TRUST BANK · CASE STUDY    |    MANAV GUPTA    |    VP &amp; CTO, TECHNICAL SALES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1097280" y="1371600"/>
            <a:ext cx="1371600" cy="1371600"/>
          </a:xfrm>
          <a:prstGeom prst="rect">
            <a:avLst/>
          </a:prstGeom>
          <a:noFill/>
        </p:spPr>
        <p:txBody>
          <a:bodyPr wrap="square" anchor="t"/>
          <a:lstStyle/>
          <a:p>
            <a:pPr algn="l"/>
            <a:r>
              <a:rPr sz="9600" b="1" i="0">
                <a:solidFill>
                  <a:srgbClr val="2D4ADE"/>
                </a:solidFill>
                <a:latin typeface="Georgia"/>
              </a:rPr>
              <a:t>“</a:t>
            </a:r>
          </a:p>
        </p:txBody>
      </p:sp>
      <p:sp>
        <p:nvSpPr>
          <p:cNvPr id="3" name="TextBox 2"/>
          <p:cNvSpPr txBox="1"/>
          <p:nvPr/>
        </p:nvSpPr>
        <p:spPr>
          <a:xfrm>
            <a:off x="2194560" y="1828800"/>
            <a:ext cx="8229600" cy="2743200"/>
          </a:xfrm>
          <a:prstGeom prst="rect">
            <a:avLst/>
          </a:prstGeom>
          <a:noFill/>
        </p:spPr>
        <p:txBody>
          <a:bodyPr wrap="square" anchor="ctr"/>
          <a:lstStyle/>
          <a:p>
            <a:pPr algn="l"/>
            <a:r>
              <a:rPr sz="2800" b="0" i="1">
                <a:solidFill>
                  <a:srgbClr val="15171A"/>
                </a:solidFill>
                <a:latin typeface="Georgia"/>
              </a:rPr>
              <a:t>The data architecture you designed in 2019 is what’s breaking your AI strategy in 2026.</a:t>
            </a:r>
          </a:p>
        </p:txBody>
      </p:sp>
      <p:cxnSp>
        <p:nvCxnSpPr>
          <p:cNvPr id="4" name="Connector 3"/>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Opening</a:t>
            </a:r>
          </a:p>
        </p:txBody>
      </p:sp>
      <p:sp>
        <p:nvSpPr>
          <p:cNvPr id="6" name="TextBox 5"/>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2 / 58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pic>
        <p:nvPicPr>
          <p:cNvPr id="2" name="Picture 1" descr="refarch-overview.png"/>
          <p:cNvPicPr>
            <a:picLocks noChangeAspect="1"/>
          </p:cNvPicPr>
          <p:nvPr/>
        </p:nvPicPr>
        <p:blipFill>
          <a:blip r:embed="rId2"/>
          <a:stretch>
            <a:fillRect/>
          </a:stretch>
        </p:blipFill>
        <p:spPr>
          <a:xfrm>
            <a:off x="0" y="91440"/>
            <a:ext cx="12191695" cy="6766560"/>
          </a:xfrm>
          <a:prstGeom prst="rect">
            <a:avLst/>
          </a:prstGeom>
        </p:spPr>
      </p:pic>
      <p:cxnSp>
        <p:nvCxnSpPr>
          <p:cNvPr id="3" name="Connector 2"/>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Opening</a:t>
            </a:r>
          </a:p>
        </p:txBody>
      </p:sp>
      <p:sp>
        <p:nvSpPr>
          <p:cNvPr id="5" name="TextBox 4"/>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3 / 58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pic>
        <p:nvPicPr>
          <p:cNvPr id="2" name="Picture 1" descr="refarch-cpd.png"/>
          <p:cNvPicPr>
            <a:picLocks noChangeAspect="1"/>
          </p:cNvPicPr>
          <p:nvPr/>
        </p:nvPicPr>
        <p:blipFill>
          <a:blip r:embed="rId2"/>
          <a:stretch>
            <a:fillRect/>
          </a:stretch>
        </p:blipFill>
        <p:spPr>
          <a:xfrm>
            <a:off x="0" y="91440"/>
            <a:ext cx="12191695" cy="6766560"/>
          </a:xfrm>
          <a:prstGeom prst="rect">
            <a:avLst/>
          </a:prstGeom>
        </p:spPr>
      </p:pic>
      <p:cxnSp>
        <p:nvCxnSpPr>
          <p:cNvPr id="3" name="Connector 2"/>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Opening</a:t>
            </a:r>
          </a:p>
        </p:txBody>
      </p:sp>
      <p:sp>
        <p:nvSpPr>
          <p:cNvPr id="5" name="TextBox 4"/>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4 / 58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OPENING</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Why each role cares.</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Opening</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5 / 58</a:t>
            </a:r>
          </a:p>
        </p:txBody>
      </p:sp>
      <p:sp>
        <p:nvSpPr>
          <p:cNvPr id="8" name="TextBox 7"/>
          <p:cNvSpPr txBox="1"/>
          <p:nvPr/>
        </p:nvSpPr>
        <p:spPr>
          <a:xfrm>
            <a:off x="731520" y="1737360"/>
            <a:ext cx="3291840" cy="365760"/>
          </a:xfrm>
          <a:prstGeom prst="rect">
            <a:avLst/>
          </a:prstGeom>
          <a:noFill/>
        </p:spPr>
        <p:txBody>
          <a:bodyPr wrap="square" anchor="t"/>
          <a:lstStyle/>
          <a:p>
            <a:pPr algn="l"/>
            <a:r>
              <a:rPr sz="1100" b="1" i="0">
                <a:solidFill>
                  <a:srgbClr val="2D4ADE"/>
                </a:solidFill>
                <a:latin typeface="Consolas"/>
              </a:rPr>
              <a:t>SELLERS</a:t>
            </a:r>
          </a:p>
        </p:txBody>
      </p:sp>
      <p:cxnSp>
        <p:nvCxnSpPr>
          <p:cNvPr id="9" name="Connector 8"/>
          <p:cNvCxnSpPr/>
          <p:nvPr/>
        </p:nvCxnSpPr>
        <p:spPr>
          <a:xfrm>
            <a:off x="731520" y="2148840"/>
            <a:ext cx="3291840"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2331720"/>
            <a:ext cx="3291840" cy="3200400"/>
          </a:xfrm>
          <a:prstGeom prst="rect">
            <a:avLst/>
          </a:prstGeom>
          <a:noFill/>
        </p:spPr>
        <p:txBody>
          <a:bodyPr wrap="square" anchor="t"/>
          <a:lstStyle/>
          <a:p>
            <a:pPr algn="l"/>
            <a:r>
              <a:rPr sz="1400" b="0" i="0">
                <a:solidFill>
                  <a:srgbClr val="15171A"/>
                </a:solidFill>
                <a:latin typeface="Calibri"/>
              </a:rPr>
              <a:t>Stop selling “AI.” Start selling the data plane that makes AI work.</a:t>
            </a:r>
          </a:p>
        </p:txBody>
      </p:sp>
      <p:sp>
        <p:nvSpPr>
          <p:cNvPr id="11" name="TextBox 10"/>
          <p:cNvSpPr txBox="1"/>
          <p:nvPr/>
        </p:nvSpPr>
        <p:spPr>
          <a:xfrm>
            <a:off x="4297680" y="1737360"/>
            <a:ext cx="3291840" cy="365760"/>
          </a:xfrm>
          <a:prstGeom prst="rect">
            <a:avLst/>
          </a:prstGeom>
          <a:noFill/>
        </p:spPr>
        <p:txBody>
          <a:bodyPr wrap="square" anchor="t"/>
          <a:lstStyle/>
          <a:p>
            <a:pPr algn="l"/>
            <a:r>
              <a:rPr sz="1100" b="1" i="0">
                <a:solidFill>
                  <a:srgbClr val="2D4ADE"/>
                </a:solidFill>
                <a:latin typeface="Consolas"/>
              </a:rPr>
              <a:t>ARCHITECTS</a:t>
            </a:r>
          </a:p>
        </p:txBody>
      </p:sp>
      <p:cxnSp>
        <p:nvCxnSpPr>
          <p:cNvPr id="12" name="Connector 11"/>
          <p:cNvCxnSpPr/>
          <p:nvPr/>
        </p:nvCxnSpPr>
        <p:spPr>
          <a:xfrm>
            <a:off x="4297680" y="2148840"/>
            <a:ext cx="3291840"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297680" y="2331720"/>
            <a:ext cx="3291840" cy="3200400"/>
          </a:xfrm>
          <a:prstGeom prst="rect">
            <a:avLst/>
          </a:prstGeom>
          <a:noFill/>
        </p:spPr>
        <p:txBody>
          <a:bodyPr wrap="square" anchor="t"/>
          <a:lstStyle/>
          <a:p>
            <a:pPr algn="l"/>
            <a:r>
              <a:rPr sz="1400" b="0" i="0">
                <a:solidFill>
                  <a:srgbClr val="15171A"/>
                </a:solidFill>
                <a:latin typeface="Calibri"/>
              </a:rPr>
              <a:t>The integration contract between your enterprise and your agents — get it wrong and nothing else matters.</a:t>
            </a:r>
          </a:p>
        </p:txBody>
      </p:sp>
      <p:sp>
        <p:nvSpPr>
          <p:cNvPr id="14" name="TextBox 13"/>
          <p:cNvSpPr txBox="1"/>
          <p:nvPr/>
        </p:nvSpPr>
        <p:spPr>
          <a:xfrm>
            <a:off x="7863840" y="1737360"/>
            <a:ext cx="3291840" cy="365760"/>
          </a:xfrm>
          <a:prstGeom prst="rect">
            <a:avLst/>
          </a:prstGeom>
          <a:noFill/>
        </p:spPr>
        <p:txBody>
          <a:bodyPr wrap="square" anchor="t"/>
          <a:lstStyle/>
          <a:p>
            <a:pPr algn="l"/>
            <a:r>
              <a:rPr sz="1100" b="1" i="0">
                <a:solidFill>
                  <a:srgbClr val="2D4ADE"/>
                </a:solidFill>
                <a:latin typeface="Consolas"/>
              </a:rPr>
              <a:t>SSRs</a:t>
            </a:r>
          </a:p>
        </p:txBody>
      </p:sp>
      <p:cxnSp>
        <p:nvCxnSpPr>
          <p:cNvPr id="15" name="Connector 14"/>
          <p:cNvCxnSpPr/>
          <p:nvPr/>
        </p:nvCxnSpPr>
        <p:spPr>
          <a:xfrm>
            <a:off x="7863840" y="2148840"/>
            <a:ext cx="3291840"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863840" y="2331720"/>
            <a:ext cx="3291840" cy="3200400"/>
          </a:xfrm>
          <a:prstGeom prst="rect">
            <a:avLst/>
          </a:prstGeom>
          <a:noFill/>
        </p:spPr>
        <p:txBody>
          <a:bodyPr wrap="square" anchor="t"/>
          <a:lstStyle/>
          <a:p>
            <a:pPr algn="l"/>
            <a:r>
              <a:rPr sz="1400" b="0" i="0">
                <a:solidFill>
                  <a:srgbClr val="15171A"/>
                </a:solidFill>
                <a:latin typeface="Calibri"/>
              </a:rPr>
              <a:t>Every incident is now a governance incident. You need to know which swimlane broke.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Rectangle 1"/>
          <p:cNvSpPr/>
          <p:nvPr/>
        </p:nvSpPr>
        <p:spPr>
          <a:xfrm>
            <a:off x="0" y="0"/>
            <a:ext cx="12191695" cy="36576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728655" cy="365760"/>
          </a:xfrm>
          <a:prstGeom prst="rect">
            <a:avLst/>
          </a:prstGeom>
          <a:noFill/>
        </p:spPr>
        <p:txBody>
          <a:bodyPr wrap="square" anchor="t"/>
          <a:lstStyle/>
          <a:p>
            <a:pPr algn="l"/>
            <a:r>
              <a:rPr sz="1000" b="0" i="0">
                <a:solidFill>
                  <a:srgbClr val="5C6470"/>
                </a:solidFill>
                <a:latin typeface="Consolas"/>
              </a:rPr>
              <a:t>BLOCK 1 OF 5</a:t>
            </a:r>
          </a:p>
        </p:txBody>
      </p:sp>
      <p:sp>
        <p:nvSpPr>
          <p:cNvPr id="4" name="TextBox 3"/>
          <p:cNvSpPr txBox="1"/>
          <p:nvPr/>
        </p:nvSpPr>
        <p:spPr>
          <a:xfrm>
            <a:off x="731520" y="2377440"/>
            <a:ext cx="10728655" cy="914400"/>
          </a:xfrm>
          <a:prstGeom prst="rect">
            <a:avLst/>
          </a:prstGeom>
          <a:noFill/>
        </p:spPr>
        <p:txBody>
          <a:bodyPr wrap="square" anchor="t"/>
          <a:lstStyle/>
          <a:p>
            <a:pPr algn="l"/>
            <a:r>
              <a:rPr sz="3600" b="1" i="0">
                <a:solidFill>
                  <a:srgbClr val="15171A"/>
                </a:solidFill>
                <a:latin typeface="Georgia"/>
              </a:rPr>
              <a:t>Foundations.</a:t>
            </a:r>
          </a:p>
        </p:txBody>
      </p:sp>
      <p:sp>
        <p:nvSpPr>
          <p:cNvPr id="5" name="TextBox 4"/>
          <p:cNvSpPr txBox="1"/>
          <p:nvPr/>
        </p:nvSpPr>
        <p:spPr>
          <a:xfrm>
            <a:off x="731520" y="3474720"/>
            <a:ext cx="9144000" cy="1097280"/>
          </a:xfrm>
          <a:prstGeom prst="rect">
            <a:avLst/>
          </a:prstGeom>
          <a:noFill/>
        </p:spPr>
        <p:txBody>
          <a:bodyPr wrap="square" anchor="t"/>
          <a:lstStyle/>
          <a:p>
            <a:pPr algn="l"/>
            <a:r>
              <a:rPr sz="1800" b="0" i="1">
                <a:solidFill>
                  <a:srgbClr val="3A3F47"/>
                </a:solidFill>
                <a:latin typeface="Georgia"/>
              </a:rPr>
              <a:t>Storage, compute, catalog, governance, observability — the five primitives. Then the six patterns.</a:t>
            </a:r>
          </a:p>
        </p:txBody>
      </p:sp>
      <p:sp>
        <p:nvSpPr>
          <p:cNvPr id="6" name="TextBox 5"/>
          <p:cNvSpPr txBox="1"/>
          <p:nvPr/>
        </p:nvSpPr>
        <p:spPr>
          <a:xfrm>
            <a:off x="731520" y="6126480"/>
            <a:ext cx="3657600" cy="365760"/>
          </a:xfrm>
          <a:prstGeom prst="rect">
            <a:avLst/>
          </a:prstGeom>
          <a:noFill/>
        </p:spPr>
        <p:txBody>
          <a:bodyPr wrap="square" anchor="t"/>
          <a:lstStyle/>
          <a:p>
            <a:pPr algn="l"/>
            <a:r>
              <a:rPr sz="1000" b="0" i="0">
                <a:solidFill>
                  <a:srgbClr val="5C6470"/>
                </a:solidFill>
                <a:latin typeface="Consolas"/>
              </a:rPr>
              <a:t>45 MIN</a:t>
            </a:r>
          </a:p>
        </p:txBody>
      </p:sp>
      <p:cxnSp>
        <p:nvCxnSpPr>
          <p:cNvPr id="7" name="Connector 6"/>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Foundations</a:t>
            </a:r>
          </a:p>
        </p:txBody>
      </p:sp>
      <p:sp>
        <p:nvSpPr>
          <p:cNvPr id="9" name="TextBox 8"/>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6 / 58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1.1 — WHY WE KEEP REINVENTING DATA ARCHITECTURE</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The 30-year arc.</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7 / 58</a:t>
            </a:r>
          </a:p>
        </p:txBody>
      </p:sp>
      <p:sp>
        <p:nvSpPr>
          <p:cNvPr id="8" name="Rectangle 7"/>
          <p:cNvSpPr/>
          <p:nvPr/>
        </p:nvSpPr>
        <p:spPr>
          <a:xfrm>
            <a:off x="860907" y="2560320"/>
            <a:ext cx="1554480" cy="594360"/>
          </a:xfrm>
          <a:prstGeom prst="rect">
            <a:avLst/>
          </a:prstGeom>
          <a:solidFill>
            <a:srgbClr val="DDDAD0"/>
          </a:solidFill>
          <a:ln>
            <a:solidFill>
              <a:srgbClr val="C9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0907" y="2651760"/>
            <a:ext cx="1554480" cy="457200"/>
          </a:xfrm>
          <a:prstGeom prst="rect">
            <a:avLst/>
          </a:prstGeom>
          <a:noFill/>
        </p:spPr>
        <p:txBody>
          <a:bodyPr wrap="square" anchor="t"/>
          <a:lstStyle/>
          <a:p>
            <a:pPr algn="ctr"/>
            <a:r>
              <a:rPr sz="1100" b="1" i="0">
                <a:solidFill>
                  <a:srgbClr val="15171A"/>
                </a:solidFill>
                <a:latin typeface="Consolas"/>
              </a:rPr>
              <a:t>OLTP</a:t>
            </a:r>
          </a:p>
        </p:txBody>
      </p:sp>
      <p:sp>
        <p:nvSpPr>
          <p:cNvPr id="10" name="TextBox 9"/>
          <p:cNvSpPr txBox="1"/>
          <p:nvPr/>
        </p:nvSpPr>
        <p:spPr>
          <a:xfrm>
            <a:off x="2415387" y="2651760"/>
            <a:ext cx="228600" cy="457200"/>
          </a:xfrm>
          <a:prstGeom prst="rect">
            <a:avLst/>
          </a:prstGeom>
          <a:noFill/>
        </p:spPr>
        <p:txBody>
          <a:bodyPr wrap="square" anchor="t"/>
          <a:lstStyle/>
          <a:p>
            <a:pPr algn="ctr"/>
            <a:r>
              <a:rPr sz="1400" b="0" i="0">
                <a:solidFill>
                  <a:srgbClr val="5C6470"/>
                </a:solidFill>
                <a:latin typeface="Calibri"/>
              </a:rPr>
              <a:t>→</a:t>
            </a:r>
          </a:p>
        </p:txBody>
      </p:sp>
      <p:sp>
        <p:nvSpPr>
          <p:cNvPr id="11" name="Rectangle 10"/>
          <p:cNvSpPr/>
          <p:nvPr/>
        </p:nvSpPr>
        <p:spPr>
          <a:xfrm>
            <a:off x="2643987" y="2560320"/>
            <a:ext cx="1554480" cy="594360"/>
          </a:xfrm>
          <a:prstGeom prst="rect">
            <a:avLst/>
          </a:prstGeom>
          <a:solidFill>
            <a:srgbClr val="DDDAD0"/>
          </a:solidFill>
          <a:ln>
            <a:solidFill>
              <a:srgbClr val="C9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43987" y="2651760"/>
            <a:ext cx="1554480" cy="457200"/>
          </a:xfrm>
          <a:prstGeom prst="rect">
            <a:avLst/>
          </a:prstGeom>
          <a:noFill/>
        </p:spPr>
        <p:txBody>
          <a:bodyPr wrap="square" anchor="t"/>
          <a:lstStyle/>
          <a:p>
            <a:pPr algn="ctr"/>
            <a:r>
              <a:rPr sz="1100" b="1" i="0">
                <a:solidFill>
                  <a:srgbClr val="15171A"/>
                </a:solidFill>
                <a:latin typeface="Consolas"/>
              </a:rPr>
              <a:t>Warehouse</a:t>
            </a:r>
          </a:p>
        </p:txBody>
      </p:sp>
      <p:sp>
        <p:nvSpPr>
          <p:cNvPr id="13" name="TextBox 12"/>
          <p:cNvSpPr txBox="1"/>
          <p:nvPr/>
        </p:nvSpPr>
        <p:spPr>
          <a:xfrm>
            <a:off x="4198467" y="2651760"/>
            <a:ext cx="228600" cy="457200"/>
          </a:xfrm>
          <a:prstGeom prst="rect">
            <a:avLst/>
          </a:prstGeom>
          <a:noFill/>
        </p:spPr>
        <p:txBody>
          <a:bodyPr wrap="square" anchor="t"/>
          <a:lstStyle/>
          <a:p>
            <a:pPr algn="ctr"/>
            <a:r>
              <a:rPr sz="1400" b="0" i="0">
                <a:solidFill>
                  <a:srgbClr val="5C6470"/>
                </a:solidFill>
                <a:latin typeface="Calibri"/>
              </a:rPr>
              <a:t>→</a:t>
            </a:r>
          </a:p>
        </p:txBody>
      </p:sp>
      <p:sp>
        <p:nvSpPr>
          <p:cNvPr id="14" name="Rectangle 13"/>
          <p:cNvSpPr/>
          <p:nvPr/>
        </p:nvSpPr>
        <p:spPr>
          <a:xfrm>
            <a:off x="4427067" y="2560320"/>
            <a:ext cx="1554480" cy="594360"/>
          </a:xfrm>
          <a:prstGeom prst="rect">
            <a:avLst/>
          </a:prstGeom>
          <a:solidFill>
            <a:srgbClr val="DDDAD0"/>
          </a:solidFill>
          <a:ln>
            <a:solidFill>
              <a:srgbClr val="C9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7067" y="2651760"/>
            <a:ext cx="1554480" cy="457200"/>
          </a:xfrm>
          <a:prstGeom prst="rect">
            <a:avLst/>
          </a:prstGeom>
          <a:noFill/>
        </p:spPr>
        <p:txBody>
          <a:bodyPr wrap="square" anchor="t"/>
          <a:lstStyle/>
          <a:p>
            <a:pPr algn="ctr"/>
            <a:r>
              <a:rPr sz="1100" b="1" i="0">
                <a:solidFill>
                  <a:srgbClr val="15171A"/>
                </a:solidFill>
                <a:latin typeface="Consolas"/>
              </a:rPr>
              <a:t>Lake</a:t>
            </a:r>
          </a:p>
        </p:txBody>
      </p:sp>
      <p:sp>
        <p:nvSpPr>
          <p:cNvPr id="16" name="TextBox 15"/>
          <p:cNvSpPr txBox="1"/>
          <p:nvPr/>
        </p:nvSpPr>
        <p:spPr>
          <a:xfrm>
            <a:off x="5981547" y="2651760"/>
            <a:ext cx="228600" cy="457200"/>
          </a:xfrm>
          <a:prstGeom prst="rect">
            <a:avLst/>
          </a:prstGeom>
          <a:noFill/>
        </p:spPr>
        <p:txBody>
          <a:bodyPr wrap="square" anchor="t"/>
          <a:lstStyle/>
          <a:p>
            <a:pPr algn="ctr"/>
            <a:r>
              <a:rPr sz="1400" b="0" i="0">
                <a:solidFill>
                  <a:srgbClr val="5C6470"/>
                </a:solidFill>
                <a:latin typeface="Calibri"/>
              </a:rPr>
              <a:t>→</a:t>
            </a:r>
          </a:p>
        </p:txBody>
      </p:sp>
      <p:sp>
        <p:nvSpPr>
          <p:cNvPr id="17" name="Rectangle 16"/>
          <p:cNvSpPr/>
          <p:nvPr/>
        </p:nvSpPr>
        <p:spPr>
          <a:xfrm>
            <a:off x="6210147" y="2560320"/>
            <a:ext cx="1554480" cy="594360"/>
          </a:xfrm>
          <a:prstGeom prst="rect">
            <a:avLst/>
          </a:prstGeom>
          <a:solidFill>
            <a:srgbClr val="2D4ADE"/>
          </a:solidFill>
          <a:ln>
            <a:solidFill>
              <a:srgbClr val="C9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0147" y="2651760"/>
            <a:ext cx="1554480" cy="457200"/>
          </a:xfrm>
          <a:prstGeom prst="rect">
            <a:avLst/>
          </a:prstGeom>
          <a:noFill/>
        </p:spPr>
        <p:txBody>
          <a:bodyPr wrap="square" anchor="t"/>
          <a:lstStyle/>
          <a:p>
            <a:pPr algn="ctr"/>
            <a:r>
              <a:rPr sz="1100" b="1" i="0">
                <a:solidFill>
                  <a:srgbClr val="FFFFFF"/>
                </a:solidFill>
                <a:latin typeface="Consolas"/>
              </a:rPr>
              <a:t>Lakehouse</a:t>
            </a:r>
          </a:p>
        </p:txBody>
      </p:sp>
      <p:sp>
        <p:nvSpPr>
          <p:cNvPr id="19" name="TextBox 18"/>
          <p:cNvSpPr txBox="1"/>
          <p:nvPr/>
        </p:nvSpPr>
        <p:spPr>
          <a:xfrm>
            <a:off x="7764627" y="2651760"/>
            <a:ext cx="228600" cy="457200"/>
          </a:xfrm>
          <a:prstGeom prst="rect">
            <a:avLst/>
          </a:prstGeom>
          <a:noFill/>
        </p:spPr>
        <p:txBody>
          <a:bodyPr wrap="square" anchor="t"/>
          <a:lstStyle/>
          <a:p>
            <a:pPr algn="ctr"/>
            <a:r>
              <a:rPr sz="1400" b="0" i="0">
                <a:solidFill>
                  <a:srgbClr val="5C6470"/>
                </a:solidFill>
                <a:latin typeface="Calibri"/>
              </a:rPr>
              <a:t>→</a:t>
            </a:r>
          </a:p>
        </p:txBody>
      </p:sp>
      <p:sp>
        <p:nvSpPr>
          <p:cNvPr id="20" name="Rectangle 19"/>
          <p:cNvSpPr/>
          <p:nvPr/>
        </p:nvSpPr>
        <p:spPr>
          <a:xfrm>
            <a:off x="7993227" y="2560320"/>
            <a:ext cx="1554480" cy="594360"/>
          </a:xfrm>
          <a:prstGeom prst="rect">
            <a:avLst/>
          </a:prstGeom>
          <a:solidFill>
            <a:srgbClr val="2D4ADE"/>
          </a:solidFill>
          <a:ln>
            <a:solidFill>
              <a:srgbClr val="C9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93227" y="2651760"/>
            <a:ext cx="1554480" cy="457200"/>
          </a:xfrm>
          <a:prstGeom prst="rect">
            <a:avLst/>
          </a:prstGeom>
          <a:noFill/>
        </p:spPr>
        <p:txBody>
          <a:bodyPr wrap="square" anchor="t"/>
          <a:lstStyle/>
          <a:p>
            <a:pPr algn="ctr"/>
            <a:r>
              <a:rPr sz="1100" b="1" i="0">
                <a:solidFill>
                  <a:srgbClr val="FFFFFF"/>
                </a:solidFill>
                <a:latin typeface="Consolas"/>
              </a:rPr>
              <a:t>Mesh</a:t>
            </a:r>
          </a:p>
        </p:txBody>
      </p:sp>
      <p:sp>
        <p:nvSpPr>
          <p:cNvPr id="22" name="TextBox 21"/>
          <p:cNvSpPr txBox="1"/>
          <p:nvPr/>
        </p:nvSpPr>
        <p:spPr>
          <a:xfrm>
            <a:off x="9547707" y="2651760"/>
            <a:ext cx="228600" cy="457200"/>
          </a:xfrm>
          <a:prstGeom prst="rect">
            <a:avLst/>
          </a:prstGeom>
          <a:noFill/>
        </p:spPr>
        <p:txBody>
          <a:bodyPr wrap="square" anchor="t"/>
          <a:lstStyle/>
          <a:p>
            <a:pPr algn="ctr"/>
            <a:r>
              <a:rPr sz="1400" b="0" i="0">
                <a:solidFill>
                  <a:srgbClr val="5C6470"/>
                </a:solidFill>
                <a:latin typeface="Calibri"/>
              </a:rPr>
              <a:t>→</a:t>
            </a:r>
          </a:p>
        </p:txBody>
      </p:sp>
      <p:sp>
        <p:nvSpPr>
          <p:cNvPr id="23" name="Rectangle 22"/>
          <p:cNvSpPr/>
          <p:nvPr/>
        </p:nvSpPr>
        <p:spPr>
          <a:xfrm>
            <a:off x="9776307" y="2560320"/>
            <a:ext cx="1554480" cy="594360"/>
          </a:xfrm>
          <a:prstGeom prst="rect">
            <a:avLst/>
          </a:prstGeom>
          <a:solidFill>
            <a:srgbClr val="2D4ADE"/>
          </a:solidFill>
          <a:ln>
            <a:solidFill>
              <a:srgbClr val="C9C4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76307" y="2651760"/>
            <a:ext cx="1554480" cy="457200"/>
          </a:xfrm>
          <a:prstGeom prst="rect">
            <a:avLst/>
          </a:prstGeom>
          <a:noFill/>
        </p:spPr>
        <p:txBody>
          <a:bodyPr wrap="square" anchor="t"/>
          <a:lstStyle/>
          <a:p>
            <a:pPr algn="ctr"/>
            <a:r>
              <a:rPr sz="1100" b="1" i="0">
                <a:solidFill>
                  <a:srgbClr val="FFFFFF"/>
                </a:solidFill>
                <a:latin typeface="Consolas"/>
              </a:rPr>
              <a:t>Fabric</a:t>
            </a:r>
          </a:p>
        </p:txBody>
      </p:sp>
      <p:sp>
        <p:nvSpPr>
          <p:cNvPr id="25" name="TextBox 24"/>
          <p:cNvSpPr txBox="1"/>
          <p:nvPr/>
        </p:nvSpPr>
        <p:spPr>
          <a:xfrm>
            <a:off x="731520" y="3657600"/>
            <a:ext cx="10728655" cy="1371600"/>
          </a:xfrm>
          <a:prstGeom prst="rect">
            <a:avLst/>
          </a:prstGeom>
          <a:noFill/>
        </p:spPr>
        <p:txBody>
          <a:bodyPr wrap="square" anchor="t"/>
          <a:lstStyle/>
          <a:p>
            <a:pPr algn="l"/>
            <a:r>
              <a:rPr sz="1400" b="0" i="0">
                <a:solidFill>
                  <a:srgbClr val="3A3F47"/>
                </a:solidFill>
                <a:latin typeface="Calibri"/>
              </a:rPr>
              <a:t>Each generation solved the previous generation’s scaling problem and created a new governance problem.
The pendulum: centralize → decentralize → federate.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1.2 — THE FIVE PRIMITIVES</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Not four. Five.</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8 / 58</a:t>
            </a:r>
          </a:p>
        </p:txBody>
      </p:sp>
      <p:graphicFrame>
        <p:nvGraphicFramePr>
          <p:cNvPr id="8" name="Table 7"/>
          <p:cNvGraphicFramePr>
            <a:graphicFrameLocks noGrp="1"/>
          </p:cNvGraphicFramePr>
          <p:nvPr/>
        </p:nvGraphicFramePr>
        <p:xfrm>
          <a:off x="731520" y="1645920"/>
          <a:ext cx="10789920" cy="2468880"/>
        </p:xfrm>
        <a:graphic>
          <a:graphicData uri="http://schemas.openxmlformats.org/drawingml/2006/table">
            <a:tbl>
              <a:tblPr firstRow="1" bandRow="1">
                <a:tableStyleId>{5C22544A-7EE6-4342-B048-85BDC9FD1C3A}</a:tableStyleId>
              </a:tblPr>
              <a:tblGrid>
                <a:gridCol w="2286000"/>
                <a:gridCol w="8503920"/>
              </a:tblGrid>
              <a:tr h="411480">
                <a:tc>
                  <a:txBody>
                    <a:bodyPr/>
                    <a:lstStyle/>
                    <a:p>
                      <a:pPr algn="l"/>
                      <a:r>
                        <a:rPr sz="1100" b="1">
                          <a:solidFill>
                            <a:srgbClr val="5C6470"/>
                          </a:solidFill>
                          <a:latin typeface="Consolas"/>
                        </a:rPr>
                        <a:t>PRIMITIVE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100" b="1">
                          <a:solidFill>
                            <a:srgbClr val="5C6470"/>
                          </a:solidFill>
                          <a:latin typeface="Consolas"/>
                        </a:rPr>
                        <a:t>WHAT IT COVERS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Storage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Object stores, columnar formats (Parquet, ORC), open table formats (Iceberg, Delta, Hudi)</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Compute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Query engines (Presto/Trino, Spark, DuckDB), separation of storage and compute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Catalog</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Hive, Unity, Polaris, Nessie — catalog wars are the new format wars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Governance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Lineage, access, classification, lifecycle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Observability</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Quality, freshness, schema drift, pipeline SLOs, lineage-driven impact analysis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1.3 — PATTERN DECODER RING</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Six patterns. When to use. When each is actively wrong.</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9 / 58</a:t>
            </a:r>
          </a:p>
        </p:txBody>
      </p:sp>
      <p:graphicFrame>
        <p:nvGraphicFramePr>
          <p:cNvPr id="8" name="Table 7"/>
          <p:cNvGraphicFramePr>
            <a:graphicFrameLocks noGrp="1"/>
          </p:cNvGraphicFramePr>
          <p:nvPr/>
        </p:nvGraphicFramePr>
        <p:xfrm>
          <a:off x="731520" y="1645920"/>
          <a:ext cx="10789920" cy="2880360"/>
        </p:xfrm>
        <a:graphic>
          <a:graphicData uri="http://schemas.openxmlformats.org/drawingml/2006/table">
            <a:tbl>
              <a:tblPr firstRow="1" bandRow="1">
                <a:tableStyleId>{5C22544A-7EE6-4342-B048-85BDC9FD1C3A}</a:tableStyleId>
              </a:tblPr>
              <a:tblGrid>
                <a:gridCol w="2743200"/>
                <a:gridCol w="4480560"/>
                <a:gridCol w="3566160"/>
              </a:tblGrid>
              <a:tr h="411480">
                <a:tc>
                  <a:txBody>
                    <a:bodyPr/>
                    <a:lstStyle/>
                    <a:p>
                      <a:pPr algn="l"/>
                      <a:r>
                        <a:rPr sz="1100" b="1">
                          <a:solidFill>
                            <a:srgbClr val="5C6470"/>
                          </a:solidFill>
                          <a:latin typeface="Consolas"/>
                        </a:rPr>
                        <a:t>PATTERN</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100" b="1">
                          <a:solidFill>
                            <a:srgbClr val="5C6470"/>
                          </a:solidFill>
                          <a:latin typeface="Consolas"/>
                        </a:rPr>
                        <a:t>BEST FOR</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100" b="1">
                          <a:solidFill>
                            <a:srgbClr val="5C6470"/>
                          </a:solidFill>
                          <a:latin typeface="Consolas"/>
                        </a:rPr>
                        <a:t>ANTI-PATTERN</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Data Warehouse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Stable schemas, BI, regulatory reporting</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Unstructured/AI workloads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Data Lake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Cheap raw storage, ML training sets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Anything needing ACID or governance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Lakehouse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Unified analytics + ML on open formats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Sub-second OLTP</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Data Virtualization</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Federated queries, data residency</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High-volume scans, latency-sensitive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Data Mesh</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Large orgs with strong domain teams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Orgs without product thinking</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Data Fabric</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Heterogeneous estates, federation</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Greenfield single-cloud</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pic>
        <p:nvPicPr>
          <p:cNvPr id="2" name="Picture 1" descr="refarch-warehouse-overlay.png"/>
          <p:cNvPicPr>
            <a:picLocks noChangeAspect="1"/>
          </p:cNvPicPr>
          <p:nvPr/>
        </p:nvPicPr>
        <p:blipFill>
          <a:blip r:embed="rId2"/>
          <a:stretch>
            <a:fillRect/>
          </a:stretch>
        </p:blipFill>
        <p:spPr>
          <a:xfrm>
            <a:off x="0" y="91440"/>
            <a:ext cx="12191695" cy="6766560"/>
          </a:xfrm>
          <a:prstGeom prst="rect">
            <a:avLst/>
          </a:prstGeom>
        </p:spPr>
      </p:pic>
      <p:cxnSp>
        <p:nvCxnSpPr>
          <p:cNvPr id="3" name="Connector 2"/>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Opening</a:t>
            </a:r>
          </a:p>
        </p:txBody>
      </p:sp>
      <p:sp>
        <p:nvSpPr>
          <p:cNvPr id="5" name="TextBox 4"/>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10 / 58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pic>
        <p:nvPicPr>
          <p:cNvPr id="2" name="Picture 1" descr="refarch-lake-overlay.png"/>
          <p:cNvPicPr>
            <a:picLocks noChangeAspect="1"/>
          </p:cNvPicPr>
          <p:nvPr/>
        </p:nvPicPr>
        <p:blipFill>
          <a:blip r:embed="rId2"/>
          <a:stretch>
            <a:fillRect/>
          </a:stretch>
        </p:blipFill>
        <p:spPr>
          <a:xfrm>
            <a:off x="0" y="91440"/>
            <a:ext cx="12191695" cy="6766560"/>
          </a:xfrm>
          <a:prstGeom prst="rect">
            <a:avLst/>
          </a:prstGeom>
        </p:spPr>
      </p:pic>
      <p:cxnSp>
        <p:nvCxnSpPr>
          <p:cNvPr id="3" name="Connector 2"/>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5" name="TextBox 4"/>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11 / 58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pic>
        <p:nvPicPr>
          <p:cNvPr id="2" name="Picture 1" descr="refarch-lakehouse-overlay.png"/>
          <p:cNvPicPr>
            <a:picLocks noChangeAspect="1"/>
          </p:cNvPicPr>
          <p:nvPr/>
        </p:nvPicPr>
        <p:blipFill>
          <a:blip r:embed="rId2"/>
          <a:stretch>
            <a:fillRect/>
          </a:stretch>
        </p:blipFill>
        <p:spPr>
          <a:xfrm>
            <a:off x="0" y="91440"/>
            <a:ext cx="12191695" cy="6766560"/>
          </a:xfrm>
          <a:prstGeom prst="rect">
            <a:avLst/>
          </a:prstGeom>
        </p:spPr>
      </p:pic>
      <p:cxnSp>
        <p:nvCxnSpPr>
          <p:cNvPr id="3" name="Connector 2"/>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5" name="TextBox 4"/>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12 / 58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pic>
        <p:nvPicPr>
          <p:cNvPr id="2" name="Picture 1" descr="refarch-mesh-overlay.png"/>
          <p:cNvPicPr>
            <a:picLocks noChangeAspect="1"/>
          </p:cNvPicPr>
          <p:nvPr/>
        </p:nvPicPr>
        <p:blipFill>
          <a:blip r:embed="rId2"/>
          <a:stretch>
            <a:fillRect/>
          </a:stretch>
        </p:blipFill>
        <p:spPr>
          <a:xfrm>
            <a:off x="0" y="91440"/>
            <a:ext cx="12191695" cy="6766560"/>
          </a:xfrm>
          <a:prstGeom prst="rect">
            <a:avLst/>
          </a:prstGeom>
        </p:spPr>
      </p:pic>
      <p:cxnSp>
        <p:nvCxnSpPr>
          <p:cNvPr id="3" name="Connector 2"/>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5" name="TextBox 4"/>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13 / 58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pic>
        <p:nvPicPr>
          <p:cNvPr id="2" name="Picture 1" descr="refarch-fabric-overlay.png"/>
          <p:cNvPicPr>
            <a:picLocks noChangeAspect="1"/>
          </p:cNvPicPr>
          <p:nvPr/>
        </p:nvPicPr>
        <p:blipFill>
          <a:blip r:embed="rId2"/>
          <a:stretch>
            <a:fillRect/>
          </a:stretch>
        </p:blipFill>
        <p:spPr>
          <a:xfrm>
            <a:off x="0" y="91440"/>
            <a:ext cx="12191695" cy="6766560"/>
          </a:xfrm>
          <a:prstGeom prst="rect">
            <a:avLst/>
          </a:prstGeom>
        </p:spPr>
      </p:pic>
      <p:cxnSp>
        <p:nvCxnSpPr>
          <p:cNvPr id="3" name="Connector 2"/>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5" name="TextBox 4"/>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14 / 58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pic>
        <p:nvPicPr>
          <p:cNvPr id="2" name="Picture 1" descr="pattern-comparison.png"/>
          <p:cNvPicPr>
            <a:picLocks noChangeAspect="1"/>
          </p:cNvPicPr>
          <p:nvPr/>
        </p:nvPicPr>
        <p:blipFill>
          <a:blip r:embed="rId2"/>
          <a:stretch>
            <a:fillRect/>
          </a:stretch>
        </p:blipFill>
        <p:spPr>
          <a:xfrm>
            <a:off x="0" y="91440"/>
            <a:ext cx="12191695" cy="6766560"/>
          </a:xfrm>
          <a:prstGeom prst="rect">
            <a:avLst/>
          </a:prstGeom>
        </p:spPr>
      </p:pic>
      <p:cxnSp>
        <p:nvCxnSpPr>
          <p:cNvPr id="3" name="Connector 2"/>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5" name="TextBox 4"/>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15 / 58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1.3 — CHOOSING BETWEEN THE SIX</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The matrix you can draw on a napkin.</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16 / 58</a:t>
            </a:r>
          </a:p>
        </p:txBody>
      </p:sp>
      <p:graphicFrame>
        <p:nvGraphicFramePr>
          <p:cNvPr id="8" name="Table 7"/>
          <p:cNvGraphicFramePr>
            <a:graphicFrameLocks noGrp="1"/>
          </p:cNvGraphicFramePr>
          <p:nvPr/>
        </p:nvGraphicFramePr>
        <p:xfrm>
          <a:off x="731520" y="1645920"/>
          <a:ext cx="10728655" cy="2880360"/>
        </p:xfrm>
        <a:graphic>
          <a:graphicData uri="http://schemas.openxmlformats.org/drawingml/2006/table">
            <a:tbl>
              <a:tblPr firstRow="1" bandRow="1">
                <a:tableStyleId>{5C22544A-7EE6-4342-B048-85BDC9FD1C3A}</a:tableStyleId>
              </a:tblPr>
              <a:tblGrid>
                <a:gridCol w="1532665"/>
                <a:gridCol w="1532665"/>
                <a:gridCol w="1532665"/>
                <a:gridCol w="1532665"/>
                <a:gridCol w="1532665"/>
                <a:gridCol w="1532665"/>
                <a:gridCol w="1532665"/>
              </a:tblGrid>
              <a:tr h="411480">
                <a:tc>
                  <a:txBody>
                    <a:bodyPr/>
                    <a:lstStyle/>
                    <a:p>
                      <a:pPr algn="l"/>
                      <a:r>
                        <a:rPr sz="900" b="1">
                          <a:solidFill>
                            <a:srgbClr val="5C6470"/>
                          </a:solidFill>
                          <a:latin typeface="Consolas"/>
                        </a:rPr>
                        <a:t>WORKLOAD</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900" b="1">
                          <a:solidFill>
                            <a:srgbClr val="5C6470"/>
                          </a:solidFill>
                          <a:latin typeface="Consolas"/>
                        </a:rPr>
                        <a:t>WH</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900" b="1">
                          <a:solidFill>
                            <a:srgbClr val="5C6470"/>
                          </a:solidFill>
                          <a:latin typeface="Consolas"/>
                        </a:rPr>
                        <a:t>DL</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900" b="1">
                          <a:solidFill>
                            <a:srgbClr val="5C6470"/>
                          </a:solidFill>
                          <a:latin typeface="Consolas"/>
                        </a:rPr>
                        <a:t>LH</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900" b="1">
                          <a:solidFill>
                            <a:srgbClr val="5C6470"/>
                          </a:solidFill>
                          <a:latin typeface="Consolas"/>
                        </a:rPr>
                        <a:t>V</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900" b="1">
                          <a:solidFill>
                            <a:srgbClr val="5C6470"/>
                          </a:solidFill>
                          <a:latin typeface="Consolas"/>
                        </a:rPr>
                        <a:t>M</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900" b="1">
                          <a:solidFill>
                            <a:srgbClr val="5C6470"/>
                          </a:solidFill>
                          <a:latin typeface="Consolas"/>
                        </a:rPr>
                        <a:t>F</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200">
                          <a:solidFill>
                            <a:srgbClr val="15171A"/>
                          </a:solidFill>
                          <a:latin typeface="Consolas"/>
                        </a:rPr>
                        <a:t>Regulatory BI</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200">
                          <a:solidFill>
                            <a:srgbClr val="15171A"/>
                          </a:solidFill>
                          <a:latin typeface="Consolas"/>
                        </a:rPr>
                        <a:t>Ad-hoc ML feature eng.</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200">
                          <a:solidFill>
                            <a:srgbClr val="15171A"/>
                          </a:solidFill>
                          <a:latin typeface="Consolas"/>
                        </a:rPr>
                        <a:t>Unstructured / RAG</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200">
                          <a:solidFill>
                            <a:srgbClr val="15171A"/>
                          </a:solidFill>
                          <a:latin typeface="Consolas"/>
                        </a:rPr>
                        <a:t>Cross-system join</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200">
                          <a:solidFill>
                            <a:srgbClr val="15171A"/>
                          </a:solidFill>
                          <a:latin typeface="Consolas"/>
                        </a:rPr>
                        <a:t>Schema evolves weekly</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200">
                          <a:solidFill>
                            <a:srgbClr val="15171A"/>
                          </a:solidFill>
                          <a:latin typeface="Consolas"/>
                        </a:rPr>
                        <a:t>Data residency hard-line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200">
                          <a:solidFill>
                            <a:srgbClr val="15171A"/>
                          </a:solidFill>
                          <a:latin typeface="Consolas"/>
                        </a:rPr>
                        <a: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bl>
          </a:graphicData>
        </a:graphic>
      </p:graphicFrame>
      <p:sp>
        <p:nvSpPr>
          <p:cNvPr id="9" name="TextBox 8"/>
          <p:cNvSpPr txBox="1"/>
          <p:nvPr/>
        </p:nvSpPr>
        <p:spPr>
          <a:xfrm>
            <a:off x="731520" y="5669280"/>
            <a:ext cx="10728655" cy="274320"/>
          </a:xfrm>
          <a:prstGeom prst="rect">
            <a:avLst/>
          </a:prstGeom>
          <a:noFill/>
        </p:spPr>
        <p:txBody>
          <a:bodyPr wrap="square" anchor="t"/>
          <a:lstStyle/>
          <a:p>
            <a:pPr algn="l"/>
            <a:r>
              <a:rPr sz="1000" b="0" i="0">
                <a:solidFill>
                  <a:srgbClr val="5C6470"/>
                </a:solidFill>
                <a:latin typeface="Consolas"/>
              </a:rPr>
              <a:t>● Strong fit    ◐ Possible    ○ Wrong tool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1.3 — PATTERN TRADE-OFFS</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What you gain, what you give up.</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17 / 58</a:t>
            </a:r>
          </a:p>
        </p:txBody>
      </p:sp>
      <p:sp>
        <p:nvSpPr>
          <p:cNvPr id="8" name="TextBox 7"/>
          <p:cNvSpPr txBox="1"/>
          <p:nvPr/>
        </p:nvSpPr>
        <p:spPr>
          <a:xfrm>
            <a:off x="731520" y="1600200"/>
            <a:ext cx="3383280" cy="228600"/>
          </a:xfrm>
          <a:prstGeom prst="rect">
            <a:avLst/>
          </a:prstGeom>
          <a:noFill/>
        </p:spPr>
        <p:txBody>
          <a:bodyPr wrap="square" anchor="t"/>
          <a:lstStyle/>
          <a:p>
            <a:pPr algn="l"/>
            <a:r>
              <a:rPr sz="1000" b="1" i="0">
                <a:solidFill>
                  <a:srgbClr val="2D4ADE"/>
                </a:solidFill>
                <a:latin typeface="Consolas"/>
              </a:rPr>
              <a:t>Warehouse</a:t>
            </a:r>
          </a:p>
        </p:txBody>
      </p:sp>
      <p:cxnSp>
        <p:nvCxnSpPr>
          <p:cNvPr id="9" name="Connector 8"/>
          <p:cNvCxnSpPr/>
          <p:nvPr/>
        </p:nvCxnSpPr>
        <p:spPr>
          <a:xfrm>
            <a:off x="731520" y="1856232"/>
            <a:ext cx="3383280" cy="0"/>
          </a:xfrm>
          <a:prstGeom prst="line">
            <a:avLst/>
          </a:prstGeom>
          <a:ln w="19050">
            <a:solidFill>
              <a:srgbClr val="2D4AD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1920240"/>
            <a:ext cx="1600200" cy="1097280"/>
          </a:xfrm>
          <a:prstGeom prst="rect">
            <a:avLst/>
          </a:prstGeom>
          <a:noFill/>
        </p:spPr>
        <p:txBody>
          <a:bodyPr wrap="square" anchor="t"/>
          <a:lstStyle/>
          <a:p>
            <a:pPr algn="l"/>
            <a:r>
              <a:rPr sz="900" b="0" i="0">
                <a:solidFill>
                  <a:srgbClr val="3A3F47"/>
                </a:solidFill>
                <a:latin typeface="Calibri"/>
              </a:rPr>
              <a:t>✓ Strong consistency
✓ Audit trails
✓ Mature tooling</a:t>
            </a:r>
          </a:p>
        </p:txBody>
      </p:sp>
      <p:sp>
        <p:nvSpPr>
          <p:cNvPr id="11" name="TextBox 10"/>
          <p:cNvSpPr txBox="1"/>
          <p:nvPr/>
        </p:nvSpPr>
        <p:spPr>
          <a:xfrm>
            <a:off x="2423160" y="1920240"/>
            <a:ext cx="1691640" cy="1097280"/>
          </a:xfrm>
          <a:prstGeom prst="rect">
            <a:avLst/>
          </a:prstGeom>
          <a:noFill/>
        </p:spPr>
        <p:txBody>
          <a:bodyPr wrap="square" anchor="t"/>
          <a:lstStyle/>
          <a:p>
            <a:pPr algn="l"/>
            <a:r>
              <a:rPr sz="900" b="0" i="0">
                <a:solidFill>
                  <a:srgbClr val="5C6470"/>
                </a:solidFill>
                <a:latin typeface="Calibri"/>
              </a:rPr>
              <a:t>✗ No unstructured data
✗ Expensive to scale
✗ Schema changes are projects</a:t>
            </a:r>
          </a:p>
        </p:txBody>
      </p:sp>
      <p:sp>
        <p:nvSpPr>
          <p:cNvPr id="12" name="TextBox 11"/>
          <p:cNvSpPr txBox="1"/>
          <p:nvPr/>
        </p:nvSpPr>
        <p:spPr>
          <a:xfrm>
            <a:off x="4389120" y="1600200"/>
            <a:ext cx="3383280" cy="228600"/>
          </a:xfrm>
          <a:prstGeom prst="rect">
            <a:avLst/>
          </a:prstGeom>
          <a:noFill/>
        </p:spPr>
        <p:txBody>
          <a:bodyPr wrap="square" anchor="t"/>
          <a:lstStyle/>
          <a:p>
            <a:pPr algn="l"/>
            <a:r>
              <a:rPr sz="1000" b="1" i="0">
                <a:solidFill>
                  <a:srgbClr val="2D4ADE"/>
                </a:solidFill>
                <a:latin typeface="Consolas"/>
              </a:rPr>
              <a:t>Data Lake</a:t>
            </a:r>
          </a:p>
        </p:txBody>
      </p:sp>
      <p:cxnSp>
        <p:nvCxnSpPr>
          <p:cNvPr id="13" name="Connector 12"/>
          <p:cNvCxnSpPr/>
          <p:nvPr/>
        </p:nvCxnSpPr>
        <p:spPr>
          <a:xfrm>
            <a:off x="4389120" y="1856232"/>
            <a:ext cx="3383280" cy="0"/>
          </a:xfrm>
          <a:prstGeom prst="line">
            <a:avLst/>
          </a:prstGeom>
          <a:ln w="19050">
            <a:solidFill>
              <a:srgbClr val="2D4AD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89120" y="1920240"/>
            <a:ext cx="1600200" cy="1097280"/>
          </a:xfrm>
          <a:prstGeom prst="rect">
            <a:avLst/>
          </a:prstGeom>
          <a:noFill/>
        </p:spPr>
        <p:txBody>
          <a:bodyPr wrap="square" anchor="t"/>
          <a:lstStyle/>
          <a:p>
            <a:pPr algn="l"/>
            <a:r>
              <a:rPr sz="900" b="0" i="0">
                <a:solidFill>
                  <a:srgbClr val="3A3F47"/>
                </a:solidFill>
                <a:latin typeface="Calibri"/>
              </a:rPr>
              <a:t>✓ Cheapest storage
✓ All data types
✓ ML feature eng.</a:t>
            </a:r>
          </a:p>
        </p:txBody>
      </p:sp>
      <p:sp>
        <p:nvSpPr>
          <p:cNvPr id="15" name="TextBox 14"/>
          <p:cNvSpPr txBox="1"/>
          <p:nvPr/>
        </p:nvSpPr>
        <p:spPr>
          <a:xfrm>
            <a:off x="6080760" y="1920240"/>
            <a:ext cx="1691640" cy="1097280"/>
          </a:xfrm>
          <a:prstGeom prst="rect">
            <a:avLst/>
          </a:prstGeom>
          <a:noFill/>
        </p:spPr>
        <p:txBody>
          <a:bodyPr wrap="square" anchor="t"/>
          <a:lstStyle/>
          <a:p>
            <a:pPr algn="l"/>
            <a:r>
              <a:rPr sz="900" b="0" i="0">
                <a:solidFill>
                  <a:srgbClr val="5C6470"/>
                </a:solidFill>
                <a:latin typeface="Calibri"/>
              </a:rPr>
              <a:t>✗ No ACID / governance
✗ 60% become swamps
✗ Schema debt accumulates</a:t>
            </a:r>
          </a:p>
        </p:txBody>
      </p:sp>
      <p:sp>
        <p:nvSpPr>
          <p:cNvPr id="16" name="TextBox 15"/>
          <p:cNvSpPr txBox="1"/>
          <p:nvPr/>
        </p:nvSpPr>
        <p:spPr>
          <a:xfrm>
            <a:off x="8046720" y="1600200"/>
            <a:ext cx="3383280" cy="228600"/>
          </a:xfrm>
          <a:prstGeom prst="rect">
            <a:avLst/>
          </a:prstGeom>
          <a:noFill/>
        </p:spPr>
        <p:txBody>
          <a:bodyPr wrap="square" anchor="t"/>
          <a:lstStyle/>
          <a:p>
            <a:pPr algn="l"/>
            <a:r>
              <a:rPr sz="1000" b="1" i="0">
                <a:solidFill>
                  <a:srgbClr val="2D4ADE"/>
                </a:solidFill>
                <a:latin typeface="Consolas"/>
              </a:rPr>
              <a:t>Lakehouse</a:t>
            </a:r>
          </a:p>
        </p:txBody>
      </p:sp>
      <p:cxnSp>
        <p:nvCxnSpPr>
          <p:cNvPr id="17" name="Connector 16"/>
          <p:cNvCxnSpPr/>
          <p:nvPr/>
        </p:nvCxnSpPr>
        <p:spPr>
          <a:xfrm>
            <a:off x="8046720" y="1856232"/>
            <a:ext cx="3383280" cy="0"/>
          </a:xfrm>
          <a:prstGeom prst="line">
            <a:avLst/>
          </a:prstGeom>
          <a:ln w="19050">
            <a:solidFill>
              <a:srgbClr val="2D4AD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046720" y="1920240"/>
            <a:ext cx="1600200" cy="1097280"/>
          </a:xfrm>
          <a:prstGeom prst="rect">
            <a:avLst/>
          </a:prstGeom>
          <a:noFill/>
        </p:spPr>
        <p:txBody>
          <a:bodyPr wrap="square" anchor="t"/>
          <a:lstStyle/>
          <a:p>
            <a:pPr algn="l"/>
            <a:r>
              <a:rPr sz="900" b="0" i="0">
                <a:solidFill>
                  <a:srgbClr val="3A3F47"/>
                </a:solidFill>
                <a:latin typeface="Calibri"/>
              </a:rPr>
              <a:t>✓ ACID + time travel
✓ One copy for all
✓ Open formats (Iceberg)</a:t>
            </a:r>
          </a:p>
        </p:txBody>
      </p:sp>
      <p:sp>
        <p:nvSpPr>
          <p:cNvPr id="19" name="TextBox 18"/>
          <p:cNvSpPr txBox="1"/>
          <p:nvPr/>
        </p:nvSpPr>
        <p:spPr>
          <a:xfrm>
            <a:off x="9738360" y="1920240"/>
            <a:ext cx="1691640" cy="1097280"/>
          </a:xfrm>
          <a:prstGeom prst="rect">
            <a:avLst/>
          </a:prstGeom>
          <a:noFill/>
        </p:spPr>
        <p:txBody>
          <a:bodyPr wrap="square" anchor="t"/>
          <a:lstStyle/>
          <a:p>
            <a:pPr algn="l"/>
            <a:r>
              <a:rPr sz="900" b="0" i="0">
                <a:solidFill>
                  <a:srgbClr val="5C6470"/>
                </a:solidFill>
                <a:latin typeface="Calibri"/>
              </a:rPr>
              <a:t>✗ Needs Spark/Iceberg skill
✗ Not sub-ms OLTP
✗ Newer, less battle-tested</a:t>
            </a:r>
          </a:p>
        </p:txBody>
      </p:sp>
      <p:sp>
        <p:nvSpPr>
          <p:cNvPr id="20" name="TextBox 19"/>
          <p:cNvSpPr txBox="1"/>
          <p:nvPr/>
        </p:nvSpPr>
        <p:spPr>
          <a:xfrm>
            <a:off x="731520" y="3474720"/>
            <a:ext cx="3383280" cy="228600"/>
          </a:xfrm>
          <a:prstGeom prst="rect">
            <a:avLst/>
          </a:prstGeom>
          <a:noFill/>
        </p:spPr>
        <p:txBody>
          <a:bodyPr wrap="square" anchor="t"/>
          <a:lstStyle/>
          <a:p>
            <a:pPr algn="l"/>
            <a:r>
              <a:rPr sz="1000" b="1" i="0">
                <a:solidFill>
                  <a:srgbClr val="2D4ADE"/>
                </a:solidFill>
                <a:latin typeface="Consolas"/>
              </a:rPr>
              <a:t>Virtualization</a:t>
            </a:r>
          </a:p>
        </p:txBody>
      </p:sp>
      <p:cxnSp>
        <p:nvCxnSpPr>
          <p:cNvPr id="21" name="Connector 20"/>
          <p:cNvCxnSpPr/>
          <p:nvPr/>
        </p:nvCxnSpPr>
        <p:spPr>
          <a:xfrm>
            <a:off x="731520" y="3730752"/>
            <a:ext cx="3383280" cy="0"/>
          </a:xfrm>
          <a:prstGeom prst="line">
            <a:avLst/>
          </a:prstGeom>
          <a:ln w="19050">
            <a:solidFill>
              <a:srgbClr val="2D4AD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1520" y="3794760"/>
            <a:ext cx="1600200" cy="1097280"/>
          </a:xfrm>
          <a:prstGeom prst="rect">
            <a:avLst/>
          </a:prstGeom>
          <a:noFill/>
        </p:spPr>
        <p:txBody>
          <a:bodyPr wrap="square" anchor="t"/>
          <a:lstStyle/>
          <a:p>
            <a:pPr algn="l"/>
            <a:r>
              <a:rPr sz="900" b="0" i="0">
                <a:solidFill>
                  <a:srgbClr val="3A3F47"/>
                </a:solidFill>
                <a:latin typeface="Calibri"/>
              </a:rPr>
              <a:t>✓ Zero data movement
✓ Residency compliance
✓ Fast prototyping</a:t>
            </a:r>
          </a:p>
        </p:txBody>
      </p:sp>
      <p:sp>
        <p:nvSpPr>
          <p:cNvPr id="23" name="TextBox 22"/>
          <p:cNvSpPr txBox="1"/>
          <p:nvPr/>
        </p:nvSpPr>
        <p:spPr>
          <a:xfrm>
            <a:off x="2423160" y="3794760"/>
            <a:ext cx="1691640" cy="1097280"/>
          </a:xfrm>
          <a:prstGeom prst="rect">
            <a:avLst/>
          </a:prstGeom>
          <a:noFill/>
        </p:spPr>
        <p:txBody>
          <a:bodyPr wrap="square" anchor="t"/>
          <a:lstStyle/>
          <a:p>
            <a:pPr algn="l"/>
            <a:r>
              <a:rPr sz="900" b="0" i="0">
                <a:solidFill>
                  <a:srgbClr val="5C6470"/>
                </a:solidFill>
                <a:latin typeface="Calibri"/>
              </a:rPr>
              <a:t>✗ No pushdown = slow
✗ Source overload risk
✗ Not for heavy scans</a:t>
            </a:r>
          </a:p>
        </p:txBody>
      </p:sp>
      <p:sp>
        <p:nvSpPr>
          <p:cNvPr id="24" name="TextBox 23"/>
          <p:cNvSpPr txBox="1"/>
          <p:nvPr/>
        </p:nvSpPr>
        <p:spPr>
          <a:xfrm>
            <a:off x="4389120" y="3474720"/>
            <a:ext cx="3383280" cy="228600"/>
          </a:xfrm>
          <a:prstGeom prst="rect">
            <a:avLst/>
          </a:prstGeom>
          <a:noFill/>
        </p:spPr>
        <p:txBody>
          <a:bodyPr wrap="square" anchor="t"/>
          <a:lstStyle/>
          <a:p>
            <a:pPr algn="l"/>
            <a:r>
              <a:rPr sz="1000" b="1" i="0">
                <a:solidFill>
                  <a:srgbClr val="2D4ADE"/>
                </a:solidFill>
                <a:latin typeface="Consolas"/>
              </a:rPr>
              <a:t>Data Mesh</a:t>
            </a:r>
          </a:p>
        </p:txBody>
      </p:sp>
      <p:cxnSp>
        <p:nvCxnSpPr>
          <p:cNvPr id="25" name="Connector 24"/>
          <p:cNvCxnSpPr/>
          <p:nvPr/>
        </p:nvCxnSpPr>
        <p:spPr>
          <a:xfrm>
            <a:off x="4389120" y="3730752"/>
            <a:ext cx="3383280" cy="0"/>
          </a:xfrm>
          <a:prstGeom prst="line">
            <a:avLst/>
          </a:prstGeom>
          <a:ln w="19050">
            <a:solidFill>
              <a:srgbClr val="2D4AD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389120" y="3794760"/>
            <a:ext cx="1600200" cy="1097280"/>
          </a:xfrm>
          <a:prstGeom prst="rect">
            <a:avLst/>
          </a:prstGeom>
          <a:noFill/>
        </p:spPr>
        <p:txBody>
          <a:bodyPr wrap="square" anchor="t"/>
          <a:lstStyle/>
          <a:p>
            <a:pPr algn="l"/>
            <a:r>
              <a:rPr sz="900" b="0" i="0">
                <a:solidFill>
                  <a:srgbClr val="3A3F47"/>
                </a:solidFill>
                <a:latin typeface="Calibri"/>
              </a:rPr>
              <a:t>✓ Domain ownership
✓ Scales with org
✓ Quality at boundaries</a:t>
            </a:r>
          </a:p>
        </p:txBody>
      </p:sp>
      <p:sp>
        <p:nvSpPr>
          <p:cNvPr id="27" name="TextBox 26"/>
          <p:cNvSpPr txBox="1"/>
          <p:nvPr/>
        </p:nvSpPr>
        <p:spPr>
          <a:xfrm>
            <a:off x="6080760" y="3794760"/>
            <a:ext cx="1691640" cy="1097280"/>
          </a:xfrm>
          <a:prstGeom prst="rect">
            <a:avLst/>
          </a:prstGeom>
          <a:noFill/>
        </p:spPr>
        <p:txBody>
          <a:bodyPr wrap="square" anchor="t"/>
          <a:lstStyle/>
          <a:p>
            <a:pPr algn="l"/>
            <a:r>
              <a:rPr sz="900" b="0" i="0">
                <a:solidFill>
                  <a:srgbClr val="5C6470"/>
                </a:solidFill>
                <a:latin typeface="Calibri"/>
              </a:rPr>
              <a:t>✗ 18-month minimum
✗ Needs product thinking
✗ Governance is hard</a:t>
            </a:r>
          </a:p>
        </p:txBody>
      </p:sp>
      <p:sp>
        <p:nvSpPr>
          <p:cNvPr id="28" name="TextBox 27"/>
          <p:cNvSpPr txBox="1"/>
          <p:nvPr/>
        </p:nvSpPr>
        <p:spPr>
          <a:xfrm>
            <a:off x="8046720" y="3474720"/>
            <a:ext cx="3383280" cy="228600"/>
          </a:xfrm>
          <a:prstGeom prst="rect">
            <a:avLst/>
          </a:prstGeom>
          <a:noFill/>
        </p:spPr>
        <p:txBody>
          <a:bodyPr wrap="square" anchor="t"/>
          <a:lstStyle/>
          <a:p>
            <a:pPr algn="l"/>
            <a:r>
              <a:rPr sz="1000" b="1" i="0">
                <a:solidFill>
                  <a:srgbClr val="2D4ADE"/>
                </a:solidFill>
                <a:latin typeface="Consolas"/>
              </a:rPr>
              <a:t>Data Fabric</a:t>
            </a:r>
          </a:p>
        </p:txBody>
      </p:sp>
      <p:cxnSp>
        <p:nvCxnSpPr>
          <p:cNvPr id="29" name="Connector 28"/>
          <p:cNvCxnSpPr/>
          <p:nvPr/>
        </p:nvCxnSpPr>
        <p:spPr>
          <a:xfrm>
            <a:off x="8046720" y="3730752"/>
            <a:ext cx="3383280" cy="0"/>
          </a:xfrm>
          <a:prstGeom prst="line">
            <a:avLst/>
          </a:prstGeom>
          <a:ln w="19050">
            <a:solidFill>
              <a:srgbClr val="2D4AD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046720" y="3794760"/>
            <a:ext cx="1600200" cy="1097280"/>
          </a:xfrm>
          <a:prstGeom prst="rect">
            <a:avLst/>
          </a:prstGeom>
          <a:noFill/>
        </p:spPr>
        <p:txBody>
          <a:bodyPr wrap="square" anchor="t"/>
          <a:lstStyle/>
          <a:p>
            <a:pPr algn="l"/>
            <a:r>
              <a:rPr sz="900" b="0" i="0">
                <a:solidFill>
                  <a:srgbClr val="3A3F47"/>
                </a:solidFill>
                <a:latin typeface="Calibri"/>
              </a:rPr>
              <a:t>✓ Governs everything
✓ AI-driven metadata
✓ Self-serve discovery</a:t>
            </a:r>
          </a:p>
        </p:txBody>
      </p:sp>
      <p:sp>
        <p:nvSpPr>
          <p:cNvPr id="31" name="TextBox 30"/>
          <p:cNvSpPr txBox="1"/>
          <p:nvPr/>
        </p:nvSpPr>
        <p:spPr>
          <a:xfrm>
            <a:off x="9738360" y="3794760"/>
            <a:ext cx="1691640" cy="1097280"/>
          </a:xfrm>
          <a:prstGeom prst="rect">
            <a:avLst/>
          </a:prstGeom>
          <a:noFill/>
        </p:spPr>
        <p:txBody>
          <a:bodyPr wrap="square" anchor="t"/>
          <a:lstStyle/>
          <a:p>
            <a:pPr algn="l"/>
            <a:r>
              <a:rPr sz="900" b="0" i="0">
                <a:solidFill>
                  <a:srgbClr val="5C6470"/>
                </a:solidFill>
                <a:latin typeface="Calibri"/>
              </a:rPr>
              <a:t>✗ Overkill if single-cloud
✗ Complex to implement
✗ Requires mature catalog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1.3 — PATTERN DECODER RING (DEMO)</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Let’s see one running.</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18 / 58</a:t>
            </a:r>
          </a:p>
        </p:txBody>
      </p:sp>
      <p:sp>
        <p:nvSpPr>
          <p:cNvPr id="8" name="TextBox 7"/>
          <p:cNvSpPr txBox="1"/>
          <p:nvPr/>
        </p:nvSpPr>
        <p:spPr>
          <a:xfrm>
            <a:off x="731520" y="1737360"/>
            <a:ext cx="10728655" cy="365760"/>
          </a:xfrm>
          <a:prstGeom prst="rect">
            <a:avLst/>
          </a:prstGeom>
          <a:noFill/>
        </p:spPr>
        <p:txBody>
          <a:bodyPr wrap="square" anchor="t"/>
          <a:lstStyle/>
          <a:p>
            <a:pPr algn="l"/>
            <a:r>
              <a:rPr sz="1100" b="1" i="0">
                <a:solidFill>
                  <a:srgbClr val="2D4ADE"/>
                </a:solidFill>
                <a:latin typeface="Consolas"/>
              </a:rPr>
              <a:t>NOTEBOOK CAMEO #1</a:t>
            </a:r>
          </a:p>
        </p:txBody>
      </p:sp>
      <p:sp>
        <p:nvSpPr>
          <p:cNvPr id="9" name="TextBox 8"/>
          <p:cNvSpPr txBox="1"/>
          <p:nvPr/>
        </p:nvSpPr>
        <p:spPr>
          <a:xfrm>
            <a:off x="731520" y="2286000"/>
            <a:ext cx="9144000" cy="2743200"/>
          </a:xfrm>
          <a:prstGeom prst="rect">
            <a:avLst/>
          </a:prstGeom>
          <a:noFill/>
        </p:spPr>
        <p:txBody>
          <a:bodyPr wrap="square"/>
          <a:lstStyle/>
          <a:p>
            <a:pPr>
              <a:spcAft>
                <a:spcPts val="400"/>
              </a:spcAft>
            </a:pPr>
            <a:r>
              <a:rPr sz="1400">
                <a:solidFill>
                  <a:srgbClr val="15171A"/>
                </a:solidFill>
                <a:latin typeface="Calibri"/>
              </a:rPr>
              <a:t>•  Open notebooks/01-warehouse.ipynb</a:t>
            </a:r>
          </a:p>
          <a:p>
            <a:pPr>
              <a:spcAft>
                <a:spcPts val="400"/>
              </a:spcAft>
            </a:pPr>
            <a:r>
              <a:rPr sz="1400">
                <a:solidFill>
                  <a:srgbClr val="15171A"/>
                </a:solidFill>
                <a:latin typeface="Calibri"/>
              </a:rPr>
              <a:t>•  Run one canonical query against the synthetic BFSI star schema</a:t>
            </a:r>
          </a:p>
          <a:p>
            <a:pPr>
              <a:spcAft>
                <a:spcPts val="400"/>
              </a:spcAft>
            </a:pPr>
            <a:r>
              <a:rPr sz="1400">
                <a:solidFill>
                  <a:srgbClr val="15171A"/>
                </a:solidFill>
                <a:latin typeface="Calibri"/>
              </a:rPr>
              <a:t>•  Show the output: branch transaction volume for Q3 2024</a:t>
            </a:r>
          </a:p>
          <a:p>
            <a:pPr>
              <a:spcAft>
                <a:spcPts val="400"/>
              </a:spcAft>
            </a:pPr>
            <a:r>
              <a:rPr sz="1400">
                <a:solidFill>
                  <a:srgbClr val="15171A"/>
                </a:solidFill>
                <a:latin typeface="Calibri"/>
              </a:rPr>
              <a:t>•  Then try Q2 — finding customers whose policy documents reference an AML procedure</a:t>
            </a:r>
          </a:p>
          <a:p>
            <a:pPr>
              <a:spcAft>
                <a:spcPts val="400"/>
              </a:spcAft>
            </a:pPr>
            <a:r>
              <a:rPr sz="1400">
                <a:solidFill>
                  <a:srgbClr val="15171A"/>
                </a:solidFill>
                <a:latin typeface="Calibri"/>
              </a:rPr>
              <a:t>•  The warehouse stores the PDF as a BLOB. It cannot read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1.3 — PATTERN DECODER RING (DEMO)</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No data moved.</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19 / 58</a:t>
            </a:r>
          </a:p>
        </p:txBody>
      </p:sp>
      <p:sp>
        <p:nvSpPr>
          <p:cNvPr id="8" name="TextBox 7"/>
          <p:cNvSpPr txBox="1"/>
          <p:nvPr/>
        </p:nvSpPr>
        <p:spPr>
          <a:xfrm>
            <a:off x="731520" y="1737360"/>
            <a:ext cx="10728655" cy="365760"/>
          </a:xfrm>
          <a:prstGeom prst="rect">
            <a:avLst/>
          </a:prstGeom>
          <a:noFill/>
        </p:spPr>
        <p:txBody>
          <a:bodyPr wrap="square" anchor="t"/>
          <a:lstStyle/>
          <a:p>
            <a:pPr algn="l"/>
            <a:r>
              <a:rPr sz="1100" b="1" i="0">
                <a:solidFill>
                  <a:srgbClr val="2D4ADE"/>
                </a:solidFill>
                <a:latin typeface="Consolas"/>
              </a:rPr>
              <a:t>NOTEBOOK CAMEO #2</a:t>
            </a:r>
          </a:p>
        </p:txBody>
      </p:sp>
      <p:sp>
        <p:nvSpPr>
          <p:cNvPr id="9" name="TextBox 8"/>
          <p:cNvSpPr txBox="1"/>
          <p:nvPr/>
        </p:nvSpPr>
        <p:spPr>
          <a:xfrm>
            <a:off x="731520" y="2286000"/>
            <a:ext cx="9144000" cy="2743200"/>
          </a:xfrm>
          <a:prstGeom prst="rect">
            <a:avLst/>
          </a:prstGeom>
          <a:noFill/>
        </p:spPr>
        <p:txBody>
          <a:bodyPr wrap="square"/>
          <a:lstStyle/>
          <a:p>
            <a:pPr>
              <a:spcAft>
                <a:spcPts val="400"/>
              </a:spcAft>
            </a:pPr>
            <a:r>
              <a:rPr sz="1400">
                <a:solidFill>
                  <a:srgbClr val="15171A"/>
                </a:solidFill>
                <a:latin typeface="Calibri"/>
              </a:rPr>
              <a:t>•  Open notebooks/04-virtualization.ipynb</a:t>
            </a:r>
          </a:p>
          <a:p>
            <a:pPr>
              <a:spcAft>
                <a:spcPts val="400"/>
              </a:spcAft>
            </a:pPr>
            <a:r>
              <a:rPr sz="1400">
                <a:solidFill>
                  <a:srgbClr val="15171A"/>
                </a:solidFill>
                <a:latin typeface="Calibri"/>
              </a:rPr>
              <a:t>•  Run one federated query joining two sources without moving data</a:t>
            </a:r>
          </a:p>
          <a:p>
            <a:pPr>
              <a:spcAft>
                <a:spcPts val="400"/>
              </a:spcAft>
            </a:pPr>
            <a:r>
              <a:rPr sz="1400">
                <a:solidFill>
                  <a:srgbClr val="15171A"/>
                </a:solidFill>
                <a:latin typeface="Calibri"/>
              </a:rPr>
              <a:t>•  Joining Postgres and Iceberg data through Trino — no ETL, no copies, one SQL query</a:t>
            </a:r>
          </a:p>
          <a:p>
            <a:pPr>
              <a:spcAft>
                <a:spcPts val="400"/>
              </a:spcAft>
            </a:pPr>
            <a:r>
              <a:rPr sz="1400">
                <a:solidFill>
                  <a:srgbClr val="15171A"/>
                </a:solidFill>
                <a:latin typeface="Calibri"/>
              </a:rPr>
              <a:t>•  Read the EXPLAIN plan — that’s where the truth lives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1.4 — MASTER DATA MANAGEMENT</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The unsexy foundation.</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20 / 58</a:t>
            </a:r>
          </a:p>
        </p:txBody>
      </p:sp>
      <p:sp>
        <p:nvSpPr>
          <p:cNvPr id="8" name="TextBox 7"/>
          <p:cNvSpPr txBox="1"/>
          <p:nvPr/>
        </p:nvSpPr>
        <p:spPr>
          <a:xfrm>
            <a:off x="731520" y="1737360"/>
            <a:ext cx="9144000" cy="3657600"/>
          </a:xfrm>
          <a:prstGeom prst="rect">
            <a:avLst/>
          </a:prstGeom>
          <a:noFill/>
        </p:spPr>
        <p:txBody>
          <a:bodyPr wrap="square"/>
          <a:lstStyle/>
          <a:p>
            <a:pPr>
              <a:spcAft>
                <a:spcPts val="400"/>
              </a:spcAft>
            </a:pPr>
            <a:r>
              <a:rPr sz="1400">
                <a:solidFill>
                  <a:srgbClr val="15171A"/>
                </a:solidFill>
                <a:latin typeface="Calibri"/>
              </a:rPr>
              <a:t>•  Why MDM became cool again: agents need authoritative entities to reason over</a:t>
            </a:r>
          </a:p>
          <a:p>
            <a:pPr>
              <a:spcAft>
                <a:spcPts val="400"/>
              </a:spcAft>
            </a:pPr>
            <a:r>
              <a:rPr sz="1400">
                <a:solidFill>
                  <a:srgbClr val="15171A"/>
                </a:solidFill>
                <a:latin typeface="Calibri"/>
              </a:rPr>
              <a:t>•  Four MDM patterns: registry, consolidation, coexistence, centralized</a:t>
            </a:r>
          </a:p>
          <a:p>
            <a:pPr>
              <a:spcAft>
                <a:spcPts val="400"/>
              </a:spcAft>
            </a:pPr>
            <a:r>
              <a:rPr sz="1400">
                <a:solidFill>
                  <a:srgbClr val="15171A"/>
                </a:solidFill>
                <a:latin typeface="Calibri"/>
              </a:rPr>
              <a:t>•  IBM MDM / InfoSphere MDM / Match 360 positioning</a:t>
            </a:r>
          </a:p>
          <a:p>
            <a:pPr>
              <a:spcAft>
                <a:spcPts val="400"/>
              </a:spcAft>
            </a:pPr>
            <a:r>
              <a:rPr sz="1400">
                <a:solidFill>
                  <a:srgbClr val="15171A"/>
                </a:solidFill>
                <a:latin typeface="Calibri"/>
              </a:rPr>
              <a:t>•  Graph + MDM: the entity resolution play (foreshadows Block 2 Graph RAG)</a:t>
            </a:r>
          </a:p>
          <a:p>
            <a:pPr>
              <a:spcAft>
                <a:spcPts val="400"/>
              </a:spcAft>
            </a:pPr>
            <a:r>
              <a:rPr sz="1400">
                <a:solidFill>
                  <a:srgbClr val="15171A"/>
                </a:solidFill>
                <a:latin typeface="Calibri"/>
              </a:rPr>
              <a:t>•  Every Canadian bank has a 10-year MDM program that’s “almost done.” Agentic AI just made it urgent again.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1.5 — IBM STACK MAPPED TO THE REFERENCE ARCHITECTURE</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Where the storage and access patterns live.</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21 / 58</a:t>
            </a:r>
          </a:p>
        </p:txBody>
      </p:sp>
      <p:graphicFrame>
        <p:nvGraphicFramePr>
          <p:cNvPr id="8" name="Table 7"/>
          <p:cNvGraphicFramePr>
            <a:graphicFrameLocks noGrp="1"/>
          </p:cNvGraphicFramePr>
          <p:nvPr/>
        </p:nvGraphicFramePr>
        <p:xfrm>
          <a:off x="731520" y="1645920"/>
          <a:ext cx="10789920" cy="2468880"/>
        </p:xfrm>
        <a:graphic>
          <a:graphicData uri="http://schemas.openxmlformats.org/drawingml/2006/table">
            <a:tbl>
              <a:tblPr firstRow="1" bandRow="1">
                <a:tableStyleId>{5C22544A-7EE6-4342-B048-85BDC9FD1C3A}</a:tableStyleId>
              </a:tblPr>
              <a:tblGrid>
                <a:gridCol w="2743200"/>
                <a:gridCol w="8046720"/>
              </a:tblGrid>
              <a:tr h="411480">
                <a:tc>
                  <a:txBody>
                    <a:bodyPr/>
                    <a:lstStyle/>
                    <a:p>
                      <a:pPr algn="l"/>
                      <a:r>
                        <a:rPr sz="1100" b="1">
                          <a:solidFill>
                            <a:srgbClr val="5C6470"/>
                          </a:solidFill>
                          <a:latin typeface="Consolas"/>
                        </a:rPr>
                        <a:t>LAYER</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100" b="1">
                          <a:solidFill>
                            <a:srgbClr val="5C6470"/>
                          </a:solidFill>
                          <a:latin typeface="Consolas"/>
                        </a:rPr>
                        <a:t>IBM PRODUCTS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Storage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watsonx.data, Db2, Db2 Warehouse, Informix, EDB Postgres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Compute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Presto via watsonx.data, Spark, DuckDB</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Catalog</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Iceberg REST catalog, Knowledge Catalog</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Federation</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Data Virtualization, Presto connectors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Open formats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Iceberg, Delta Lake, Milvus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pic>
        <p:nvPicPr>
          <p:cNvPr id="2" name="Picture 1" descr="refarch-annotated1-overlay.png"/>
          <p:cNvPicPr>
            <a:picLocks noChangeAspect="1"/>
          </p:cNvPicPr>
          <p:nvPr/>
        </p:nvPicPr>
        <p:blipFill>
          <a:blip r:embed="rId2"/>
          <a:stretch>
            <a:fillRect/>
          </a:stretch>
        </p:blipFill>
        <p:spPr>
          <a:xfrm>
            <a:off x="0" y="91440"/>
            <a:ext cx="12191695" cy="6766560"/>
          </a:xfrm>
          <a:prstGeom prst="rect">
            <a:avLst/>
          </a:prstGeom>
        </p:spPr>
      </p:pic>
      <p:cxnSp>
        <p:nvCxnSpPr>
          <p:cNvPr id="3" name="Connector 2"/>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5" name="TextBox 4"/>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22 / 58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1097280" y="1371600"/>
            <a:ext cx="1371600" cy="1371600"/>
          </a:xfrm>
          <a:prstGeom prst="rect">
            <a:avLst/>
          </a:prstGeom>
          <a:noFill/>
        </p:spPr>
        <p:txBody>
          <a:bodyPr wrap="square" anchor="t"/>
          <a:lstStyle/>
          <a:p>
            <a:pPr algn="l"/>
            <a:r>
              <a:rPr sz="9600" b="1" i="0">
                <a:solidFill>
                  <a:srgbClr val="2D4ADE"/>
                </a:solidFill>
                <a:latin typeface="Georgia"/>
              </a:rPr>
              <a:t>“</a:t>
            </a:r>
          </a:p>
        </p:txBody>
      </p:sp>
      <p:sp>
        <p:nvSpPr>
          <p:cNvPr id="3" name="TextBox 2"/>
          <p:cNvSpPr txBox="1"/>
          <p:nvPr/>
        </p:nvSpPr>
        <p:spPr>
          <a:xfrm>
            <a:off x="2194560" y="1828800"/>
            <a:ext cx="8229600" cy="2743200"/>
          </a:xfrm>
          <a:prstGeom prst="rect">
            <a:avLst/>
          </a:prstGeom>
          <a:noFill/>
        </p:spPr>
        <p:txBody>
          <a:bodyPr wrap="square" anchor="ctr"/>
          <a:lstStyle/>
          <a:p>
            <a:pPr algn="l"/>
            <a:r>
              <a:rPr sz="2800" b="0" i="1">
                <a:solidFill>
                  <a:srgbClr val="15171A"/>
                </a:solidFill>
                <a:latin typeface="Georgia"/>
              </a:rPr>
              <a:t>The warehouse works. The lake stores everything. The lakehouse adds ACID. Virtualization federates. Mesh organizes. None of them can read a PDF.</a:t>
            </a:r>
          </a:p>
        </p:txBody>
      </p:sp>
      <p:cxnSp>
        <p:nvCxnSpPr>
          <p:cNvPr id="4" name="Connector 3"/>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1 — Foundations</a:t>
            </a:r>
          </a:p>
        </p:txBody>
      </p:sp>
      <p:sp>
        <p:nvSpPr>
          <p:cNvPr id="6" name="TextBox 5"/>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23 / 58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Rectangle 1"/>
          <p:cNvSpPr/>
          <p:nvPr/>
        </p:nvSpPr>
        <p:spPr>
          <a:xfrm>
            <a:off x="0" y="0"/>
            <a:ext cx="12191695" cy="36576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728655" cy="365760"/>
          </a:xfrm>
          <a:prstGeom prst="rect">
            <a:avLst/>
          </a:prstGeom>
          <a:noFill/>
        </p:spPr>
        <p:txBody>
          <a:bodyPr wrap="square" anchor="t"/>
          <a:lstStyle/>
          <a:p>
            <a:pPr algn="l"/>
            <a:r>
              <a:rPr sz="1000" b="0" i="0">
                <a:solidFill>
                  <a:srgbClr val="5C6470"/>
                </a:solidFill>
                <a:latin typeface="Consolas"/>
              </a:rPr>
              <a:t>BLOCK 2 OF 5</a:t>
            </a:r>
          </a:p>
        </p:txBody>
      </p:sp>
      <p:sp>
        <p:nvSpPr>
          <p:cNvPr id="4" name="TextBox 3"/>
          <p:cNvSpPr txBox="1"/>
          <p:nvPr/>
        </p:nvSpPr>
        <p:spPr>
          <a:xfrm>
            <a:off x="731520" y="2377440"/>
            <a:ext cx="10728655" cy="914400"/>
          </a:xfrm>
          <a:prstGeom prst="rect">
            <a:avLst/>
          </a:prstGeom>
          <a:noFill/>
        </p:spPr>
        <p:txBody>
          <a:bodyPr wrap="square" anchor="t"/>
          <a:lstStyle/>
          <a:p>
            <a:pPr algn="l"/>
            <a:r>
              <a:rPr sz="3600" b="1" i="0">
                <a:solidFill>
                  <a:srgbClr val="15171A"/>
                </a:solidFill>
                <a:latin typeface="Georgia"/>
              </a:rPr>
              <a:t>AI-Era Architecture.</a:t>
            </a:r>
          </a:p>
        </p:txBody>
      </p:sp>
      <p:sp>
        <p:nvSpPr>
          <p:cNvPr id="5" name="TextBox 4"/>
          <p:cNvSpPr txBox="1"/>
          <p:nvPr/>
        </p:nvSpPr>
        <p:spPr>
          <a:xfrm>
            <a:off x="731520" y="3474720"/>
            <a:ext cx="9144000" cy="1097280"/>
          </a:xfrm>
          <a:prstGeom prst="rect">
            <a:avLst/>
          </a:prstGeom>
          <a:noFill/>
        </p:spPr>
        <p:txBody>
          <a:bodyPr wrap="square" anchor="t"/>
          <a:lstStyle/>
          <a:p>
            <a:pPr algn="l"/>
            <a:r>
              <a:rPr sz="1800" b="0" i="1">
                <a:solidFill>
                  <a:srgbClr val="3A3F47"/>
                </a:solidFill>
                <a:latin typeface="Georgia"/>
              </a:rPr>
              <a:t>What changed when AI ate the stack. RAG, Docling, context engineering, and the agent control plane.</a:t>
            </a:r>
          </a:p>
        </p:txBody>
      </p:sp>
      <p:sp>
        <p:nvSpPr>
          <p:cNvPr id="6" name="TextBox 5"/>
          <p:cNvSpPr txBox="1"/>
          <p:nvPr/>
        </p:nvSpPr>
        <p:spPr>
          <a:xfrm>
            <a:off x="731520" y="6126480"/>
            <a:ext cx="3657600" cy="365760"/>
          </a:xfrm>
          <a:prstGeom prst="rect">
            <a:avLst/>
          </a:prstGeom>
          <a:noFill/>
        </p:spPr>
        <p:txBody>
          <a:bodyPr wrap="square" anchor="t"/>
          <a:lstStyle/>
          <a:p>
            <a:pPr algn="l"/>
            <a:r>
              <a:rPr sz="1000" b="0" i="0">
                <a:solidFill>
                  <a:srgbClr val="5C6470"/>
                </a:solidFill>
                <a:latin typeface="Consolas"/>
              </a:rPr>
              <a:t>60 MIN</a:t>
            </a:r>
          </a:p>
        </p:txBody>
      </p:sp>
      <p:cxnSp>
        <p:nvCxnSpPr>
          <p:cNvPr id="7" name="Connector 6"/>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AI-Era Architecture</a:t>
            </a:r>
          </a:p>
        </p:txBody>
      </p:sp>
      <p:sp>
        <p:nvSpPr>
          <p:cNvPr id="9" name="TextBox 8"/>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24 / 58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2.1 — WHAT CHANGED</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Old vs. new.</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2 — AI-Era</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25 / 58</a:t>
            </a:r>
          </a:p>
        </p:txBody>
      </p:sp>
      <p:graphicFrame>
        <p:nvGraphicFramePr>
          <p:cNvPr id="8" name="Table 7"/>
          <p:cNvGraphicFramePr>
            <a:graphicFrameLocks noGrp="1"/>
          </p:cNvGraphicFramePr>
          <p:nvPr/>
        </p:nvGraphicFramePr>
        <p:xfrm>
          <a:off x="731520" y="1645920"/>
          <a:ext cx="10789920" cy="2468880"/>
        </p:xfrm>
        <a:graphic>
          <a:graphicData uri="http://schemas.openxmlformats.org/drawingml/2006/table">
            <a:tbl>
              <a:tblPr firstRow="1" bandRow="1">
                <a:tableStyleId>{5C22544A-7EE6-4342-B048-85BDC9FD1C3A}</a:tableStyleId>
              </a:tblPr>
              <a:tblGrid>
                <a:gridCol w="5394960"/>
                <a:gridCol w="5394960"/>
              </a:tblGrid>
              <a:tr h="411480">
                <a:tc>
                  <a:txBody>
                    <a:bodyPr/>
                    <a:lstStyle/>
                    <a:p>
                      <a:pPr algn="l"/>
                      <a:r>
                        <a:rPr sz="1100" b="1">
                          <a:solidFill>
                            <a:srgbClr val="5C6470"/>
                          </a:solidFill>
                          <a:latin typeface="Consolas"/>
                        </a:rPr>
                        <a:t>BEFORE (BI ERA)</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100" b="1">
                          <a:solidFill>
                            <a:srgbClr val="5C6470"/>
                          </a:solidFill>
                          <a:latin typeface="Consolas"/>
                        </a:rPr>
                        <a:t>AFTER (AI ERA)</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a:solidFill>
                            <a:srgbClr val="15171A"/>
                          </a:solidFill>
                          <a:latin typeface="Calibri"/>
                        </a:rPr>
                        <a:t>Scan tables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Retrieve passages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a:solidFill>
                            <a:srgbClr val="15171A"/>
                          </a:solidFill>
                          <a:latin typeface="Calibri"/>
                        </a:rPr>
                        <a:t>Minutes (batch)</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Milliseconds (agent loops)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a:solidFill>
                            <a:srgbClr val="15171A"/>
                          </a:solidFill>
                          <a:latin typeface="Calibri"/>
                        </a:rPr>
                        <a:t>Structured only</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Unstructured is primary fuel</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a:solidFill>
                            <a:srgbClr val="15171A"/>
                          </a:solidFill>
                          <a:latin typeface="Calibri"/>
                        </a:rPr>
                        <a:t>Tables, views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Embeddings, chunks, traces, prompts, tool-call logs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a:solidFill>
                            <a:srgbClr val="15171A"/>
                          </a:solidFill>
                          <a:latin typeface="Calibri"/>
                        </a:rPr>
                        <a:t>Report-time governance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Real-time policy enforcement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274320"/>
            <a:ext cx="10728655" cy="274320"/>
          </a:xfrm>
          <a:prstGeom prst="rect">
            <a:avLst/>
          </a:prstGeom>
          <a:noFill/>
        </p:spPr>
        <p:txBody>
          <a:bodyPr wrap="square" anchor="t"/>
          <a:lstStyle/>
          <a:p>
            <a:pPr algn="l"/>
            <a:r>
              <a:rPr sz="1000" b="0" i="0">
                <a:solidFill>
                  <a:srgbClr val="2D4ADE"/>
                </a:solidFill>
                <a:latin typeface="Consolas"/>
              </a:rPr>
              <a:t>§ 2.2 — THE RAG REFERENCE ARCHITECTURE</a:t>
            </a:r>
          </a:p>
        </p:txBody>
      </p:sp>
      <p:sp>
        <p:nvSpPr>
          <p:cNvPr id="3" name="TextBox 2"/>
          <p:cNvSpPr txBox="1"/>
          <p:nvPr/>
        </p:nvSpPr>
        <p:spPr>
          <a:xfrm>
            <a:off x="731520" y="594360"/>
            <a:ext cx="10728655" cy="457200"/>
          </a:xfrm>
          <a:prstGeom prst="rect">
            <a:avLst/>
          </a:prstGeom>
          <a:noFill/>
        </p:spPr>
        <p:txBody>
          <a:bodyPr wrap="square" anchor="t"/>
          <a:lstStyle/>
          <a:p>
            <a:pPr algn="l"/>
            <a:r>
              <a:rPr sz="2800" b="1" i="0">
                <a:solidFill>
                  <a:srgbClr val="15171A"/>
                </a:solidFill>
                <a:latin typeface="Georgia"/>
              </a:rPr>
              <a:t>The pipeline that actually ships.</a:t>
            </a:r>
          </a:p>
        </p:txBody>
      </p:sp>
      <p:pic>
        <p:nvPicPr>
          <p:cNvPr id="4" name="Picture 3" descr="rag-pipeline.png"/>
          <p:cNvPicPr>
            <a:picLocks noChangeAspect="1"/>
          </p:cNvPicPr>
          <p:nvPr/>
        </p:nvPicPr>
        <p:blipFill>
          <a:blip r:embed="rId2"/>
          <a:stretch>
            <a:fillRect/>
          </a:stretch>
        </p:blipFill>
        <p:spPr>
          <a:xfrm>
            <a:off x="0" y="1188720"/>
            <a:ext cx="12191695" cy="5669280"/>
          </a:xfrm>
          <a:prstGeom prst="rect">
            <a:avLst/>
          </a:prstGeom>
        </p:spPr>
      </p:pic>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2 — AI-Era</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26 / 58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2.2 — DOCLING DEEP-DIVE</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The ingestion-side fix.</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2 — AI-Era</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27 / 58</a:t>
            </a:r>
          </a:p>
        </p:txBody>
      </p:sp>
      <p:sp>
        <p:nvSpPr>
          <p:cNvPr id="8" name="TextBox 7"/>
          <p:cNvSpPr txBox="1"/>
          <p:nvPr/>
        </p:nvSpPr>
        <p:spPr>
          <a:xfrm>
            <a:off x="731520" y="1737360"/>
            <a:ext cx="9144000" cy="4114800"/>
          </a:xfrm>
          <a:prstGeom prst="rect">
            <a:avLst/>
          </a:prstGeom>
          <a:noFill/>
        </p:spPr>
        <p:txBody>
          <a:bodyPr wrap="square"/>
          <a:lstStyle/>
          <a:p>
            <a:pPr>
              <a:spcAft>
                <a:spcPts val="400"/>
              </a:spcAft>
            </a:pPr>
            <a:r>
              <a:rPr sz="1400">
                <a:solidFill>
                  <a:srgbClr val="15171A"/>
                </a:solidFill>
                <a:latin typeface="Calibri"/>
              </a:rPr>
              <a:t>•  Open-source, Apache 2.0, IBM Research Zurich, now in Linux Foundation’s Agentic AI Foundation</a:t>
            </a:r>
          </a:p>
          <a:p>
            <a:pPr>
              <a:spcAft>
                <a:spcPts val="400"/>
              </a:spcAft>
            </a:pPr>
            <a:r>
              <a:rPr sz="1400">
                <a:solidFill>
                  <a:srgbClr val="15171A"/>
                </a:solidFill>
                <a:latin typeface="Calibri"/>
              </a:rPr>
              <a:t>•  Replaces naive OCR with layout-aware extraction (~30x speedup, preserves structure)</a:t>
            </a:r>
          </a:p>
          <a:p>
            <a:pPr>
              <a:spcAft>
                <a:spcPts val="400"/>
              </a:spcAft>
            </a:pPr>
            <a:r>
              <a:rPr sz="1400">
                <a:solidFill>
                  <a:srgbClr val="15171A"/>
                </a:solidFill>
                <a:latin typeface="Calibri"/>
              </a:rPr>
              <a:t>•  DoclingDocument representation: bounding boxes, reading order, structure-aware chunking</a:t>
            </a:r>
          </a:p>
          <a:p>
            <a:pPr>
              <a:spcAft>
                <a:spcPts val="400"/>
              </a:spcAft>
            </a:pPr>
            <a:r>
              <a:rPr sz="1400">
                <a:solidFill>
                  <a:srgbClr val="15171A"/>
                </a:solidFill>
                <a:latin typeface="Calibri"/>
              </a:rPr>
              <a:t>•  Integrates with LangChain, LlamaIndex, spaCy</a:t>
            </a:r>
          </a:p>
          <a:p>
            <a:pPr>
              <a:spcAft>
                <a:spcPts val="400"/>
              </a:spcAft>
            </a:pPr>
            <a:r>
              <a:rPr sz="1400">
                <a:solidFill>
                  <a:srgbClr val="15171A"/>
                </a:solidFill>
                <a:latin typeface="Calibri"/>
              </a:rPr>
              <a:t>•  Granite-Docling-258M VLM under Apache 2.0</a:t>
            </a:r>
          </a:p>
          <a:p>
            <a:pPr>
              <a:spcAft>
                <a:spcPts val="400"/>
              </a:spcAft>
            </a:pPr>
            <a:r>
              <a:rPr sz="1400">
                <a:solidFill>
                  <a:srgbClr val="15171A"/>
                </a:solidFill>
                <a:latin typeface="Calibri"/>
              </a:rPr>
              <a:t>•  Docling OpenShift Operator with Red Hat — banks named as deployment segment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2.2 — HYBRID RETRIEVAL</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BM25 + vector + reranker. In one engine.</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2 — AI-Era</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28 / 58</a:t>
            </a:r>
          </a:p>
        </p:txBody>
      </p:sp>
      <p:sp>
        <p:nvSpPr>
          <p:cNvPr id="8" name="TextBox 7"/>
          <p:cNvSpPr txBox="1"/>
          <p:nvPr/>
        </p:nvSpPr>
        <p:spPr>
          <a:xfrm>
            <a:off x="731520" y="1737360"/>
            <a:ext cx="9144000" cy="4114800"/>
          </a:xfrm>
          <a:prstGeom prst="rect">
            <a:avLst/>
          </a:prstGeom>
          <a:noFill/>
        </p:spPr>
        <p:txBody>
          <a:bodyPr wrap="square"/>
          <a:lstStyle/>
          <a:p>
            <a:pPr>
              <a:spcAft>
                <a:spcPts val="400"/>
              </a:spcAft>
            </a:pPr>
            <a:r>
              <a:rPr sz="1400">
                <a:solidFill>
                  <a:srgbClr val="15171A"/>
                </a:solidFill>
                <a:latin typeface="Calibri"/>
              </a:rPr>
              <a:t>•  Why pure vector search fails: semantic similarity is not semantic correctness</a:t>
            </a:r>
          </a:p>
          <a:p>
            <a:pPr>
              <a:spcAft>
                <a:spcPts val="400"/>
              </a:spcAft>
            </a:pPr>
            <a:r>
              <a:rPr sz="1400">
                <a:solidFill>
                  <a:srgbClr val="15171A"/>
                </a:solidFill>
                <a:latin typeface="Calibri"/>
              </a:rPr>
              <a:t>•  BM25 for exact matches (regulatory terms, policy numbers)</a:t>
            </a:r>
          </a:p>
          <a:p>
            <a:pPr>
              <a:spcAft>
                <a:spcPts val="400"/>
              </a:spcAft>
            </a:pPr>
            <a:r>
              <a:rPr sz="1400">
                <a:solidFill>
                  <a:srgbClr val="15171A"/>
                </a:solidFill>
                <a:latin typeface="Calibri"/>
              </a:rPr>
              <a:t>•  Vector for conceptual similarity</a:t>
            </a:r>
          </a:p>
          <a:p>
            <a:pPr>
              <a:spcAft>
                <a:spcPts val="400"/>
              </a:spcAft>
            </a:pPr>
            <a:r>
              <a:rPr sz="1400">
                <a:solidFill>
                  <a:srgbClr val="15171A"/>
                </a:solidFill>
                <a:latin typeface="Calibri"/>
              </a:rPr>
              <a:t>•  Reranker for precision (cross-encoder on top-k)</a:t>
            </a:r>
          </a:p>
          <a:p>
            <a:pPr>
              <a:spcAft>
                <a:spcPts val="400"/>
              </a:spcAft>
            </a:pPr>
            <a:r>
              <a:rPr sz="1400">
                <a:solidFill>
                  <a:srgbClr val="15171A"/>
                </a:solidFill>
                <a:latin typeface="Calibri"/>
              </a:rPr>
              <a:t>•  OpenSearch does all three in one engine — no stitching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2.2 — CHOOSING A VECTOR STORE</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Pick based on ops maturity, not benchmarks.</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2 — AI-Era</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29 / 58</a:t>
            </a:r>
          </a:p>
        </p:txBody>
      </p:sp>
      <p:graphicFrame>
        <p:nvGraphicFramePr>
          <p:cNvPr id="8" name="Table 7"/>
          <p:cNvGraphicFramePr>
            <a:graphicFrameLocks noGrp="1"/>
          </p:cNvGraphicFramePr>
          <p:nvPr/>
        </p:nvGraphicFramePr>
        <p:xfrm>
          <a:off x="731520" y="1645920"/>
          <a:ext cx="10789920" cy="2880360"/>
        </p:xfrm>
        <a:graphic>
          <a:graphicData uri="http://schemas.openxmlformats.org/drawingml/2006/table">
            <a:tbl>
              <a:tblPr firstRow="1" bandRow="1">
                <a:tableStyleId>{5C22544A-7EE6-4342-B048-85BDC9FD1C3A}</a:tableStyleId>
              </a:tblPr>
              <a:tblGrid>
                <a:gridCol w="2286000"/>
                <a:gridCol w="4297680"/>
                <a:gridCol w="4206240"/>
              </a:tblGrid>
              <a:tr h="411480">
                <a:tc>
                  <a:txBody>
                    <a:bodyPr/>
                    <a:lstStyle/>
                    <a:p>
                      <a:pPr algn="l"/>
                      <a:r>
                        <a:rPr sz="1100" b="1">
                          <a:solidFill>
                            <a:srgbClr val="5C6470"/>
                          </a:solidFill>
                          <a:latin typeface="Consolas"/>
                        </a:rPr>
                        <a:t>STORE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100" b="1">
                          <a:solidFill>
                            <a:srgbClr val="5C6470"/>
                          </a:solidFill>
                          <a:latin typeface="Consolas"/>
                        </a:rPr>
                        <a:t>BEST FOR</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100" b="1">
                          <a:solidFill>
                            <a:srgbClr val="5C6470"/>
                          </a:solidFill>
                          <a:latin typeface="Consolas"/>
                        </a:rPr>
                        <a:t>WATCH OUT FOR</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Milvus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Scale, GPU-accelerated search</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Ops complexity</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OpenSearch</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Hybrid (BM25 + vector + reranker)</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Memory footprint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Elastic</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Existing ELK stack shops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License changes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Pinecone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Managed, zero-ops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Vendor lock-in, no hybrid</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pgvector</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Already on Postgres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Not built for scale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Chroma</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Prototyping</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Not production-grade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2.3 — CONTEXT ENGINEERING AND THE AGENT DATA PLANE</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RAG vs. fine-tuning is the wrong question.</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2 — AI-Era</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30 / 58</a:t>
            </a:r>
          </a:p>
        </p:txBody>
      </p:sp>
      <p:sp>
        <p:nvSpPr>
          <p:cNvPr id="8" name="TextBox 7"/>
          <p:cNvSpPr txBox="1"/>
          <p:nvPr/>
        </p:nvSpPr>
        <p:spPr>
          <a:xfrm>
            <a:off x="731520" y="1737360"/>
            <a:ext cx="9144000" cy="4114800"/>
          </a:xfrm>
          <a:prstGeom prst="rect">
            <a:avLst/>
          </a:prstGeom>
          <a:noFill/>
        </p:spPr>
        <p:txBody>
          <a:bodyPr wrap="square"/>
          <a:lstStyle/>
          <a:p>
            <a:pPr>
              <a:spcAft>
                <a:spcPts val="400"/>
              </a:spcAft>
            </a:pPr>
            <a:r>
              <a:rPr sz="1400">
                <a:solidFill>
                  <a:srgbClr val="15171A"/>
                </a:solidFill>
                <a:latin typeface="Calibri"/>
              </a:rPr>
              <a:t>•  Context engineering: what goes in the window, in what order, with what provenance</a:t>
            </a:r>
          </a:p>
          <a:p>
            <a:pPr>
              <a:spcAft>
                <a:spcPts val="400"/>
              </a:spcAft>
            </a:pPr>
            <a:r>
              <a:rPr sz="1400">
                <a:solidFill>
                  <a:srgbClr val="15171A"/>
                </a:solidFill>
                <a:latin typeface="Calibri"/>
              </a:rPr>
              <a:t>•  Agent data plane: tool registries, memory stores, trace logs, evaluation sets — these are data architecture now</a:t>
            </a:r>
          </a:p>
          <a:p>
            <a:pPr>
              <a:spcAft>
                <a:spcPts val="400"/>
              </a:spcAft>
            </a:pPr>
            <a:r>
              <a:rPr sz="1400">
                <a:solidFill>
                  <a:srgbClr val="15171A"/>
                </a:solidFill>
                <a:latin typeface="Calibri"/>
              </a:rPr>
              <a:t>•  Graph RAG and when it beats vector (entity-heavy, multi-hop reasoning)</a:t>
            </a:r>
          </a:p>
          <a:p>
            <a:pPr>
              <a:spcAft>
                <a:spcPts val="400"/>
              </a:spcAft>
            </a:pPr>
            <a:r>
              <a:rPr sz="1400">
                <a:solidFill>
                  <a:srgbClr val="15171A"/>
                </a:solidFill>
                <a:latin typeface="Calibri"/>
              </a:rPr>
              <a:t>•  Open RAG positioning: open standards, open formats, swappable components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2.3 — THE AGENT DATA PLANE</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These are data architecture now.</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2 — AI-Era</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31 / 58</a:t>
            </a:r>
          </a:p>
        </p:txBody>
      </p:sp>
      <p:graphicFrame>
        <p:nvGraphicFramePr>
          <p:cNvPr id="8" name="Table 7"/>
          <p:cNvGraphicFramePr>
            <a:graphicFrameLocks noGrp="1"/>
          </p:cNvGraphicFramePr>
          <p:nvPr/>
        </p:nvGraphicFramePr>
        <p:xfrm>
          <a:off x="731520" y="1645920"/>
          <a:ext cx="10789920" cy="2468880"/>
        </p:xfrm>
        <a:graphic>
          <a:graphicData uri="http://schemas.openxmlformats.org/drawingml/2006/table">
            <a:tbl>
              <a:tblPr firstRow="1" bandRow="1">
                <a:tableStyleId>{5C22544A-7EE6-4342-B048-85BDC9FD1C3A}</a:tableStyleId>
              </a:tblPr>
              <a:tblGrid>
                <a:gridCol w="2560320"/>
                <a:gridCol w="3840480"/>
                <a:gridCol w="4389120"/>
              </a:tblGrid>
              <a:tr h="411480">
                <a:tc>
                  <a:txBody>
                    <a:bodyPr/>
                    <a:lstStyle/>
                    <a:p>
                      <a:pPr algn="l"/>
                      <a:r>
                        <a:rPr sz="1100" b="1">
                          <a:solidFill>
                            <a:srgbClr val="5C6470"/>
                          </a:solidFill>
                          <a:latin typeface="Consolas"/>
                        </a:rPr>
                        <a:t>COMPONENT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100" b="1">
                          <a:solidFill>
                            <a:srgbClr val="5C6470"/>
                          </a:solidFill>
                          <a:latin typeface="Consolas"/>
                        </a:rPr>
                        <a:t>WHAT IT STORES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100" b="1">
                          <a:solidFill>
                            <a:srgbClr val="5C6470"/>
                          </a:solidFill>
                          <a:latin typeface="Consolas"/>
                        </a:rPr>
                        <a:t>WHY IT MATTERS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Tool registry</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Available tools, permissions, schemas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Agent needs to know what it can call</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Memory store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Conversation history, entity state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Agents need context across sessions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Trace logs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Every tool call, every generation</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Audit, debugging, compliance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Evaluation sets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Ground-truth Q&amp;A pairs, human ratings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Only way to know if it works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Prompt templates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Versioned prompts, system messages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Prompt is code; version it like code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2.3 — OPEN RAG</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Open standards, open formats, swappable components.</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2 — AI-Era</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32 / 58</a:t>
            </a:r>
          </a:p>
        </p:txBody>
      </p:sp>
      <p:sp>
        <p:nvSpPr>
          <p:cNvPr id="8" name="TextBox 7"/>
          <p:cNvSpPr txBox="1"/>
          <p:nvPr/>
        </p:nvSpPr>
        <p:spPr>
          <a:xfrm>
            <a:off x="731520" y="1737360"/>
            <a:ext cx="9144000" cy="4114800"/>
          </a:xfrm>
          <a:prstGeom prst="rect">
            <a:avLst/>
          </a:prstGeom>
          <a:noFill/>
        </p:spPr>
        <p:txBody>
          <a:bodyPr wrap="square"/>
          <a:lstStyle/>
          <a:p>
            <a:pPr>
              <a:spcAft>
                <a:spcPts val="400"/>
              </a:spcAft>
            </a:pPr>
            <a:r>
              <a:rPr sz="1400">
                <a:solidFill>
                  <a:srgbClr val="15171A"/>
                </a:solidFill>
                <a:latin typeface="Calibri"/>
              </a:rPr>
              <a:t>•  Enterprise buyers are demanding component swappability</a:t>
            </a:r>
          </a:p>
          <a:p>
            <a:pPr>
              <a:spcAft>
                <a:spcPts val="400"/>
              </a:spcAft>
            </a:pPr>
            <a:r>
              <a:rPr sz="1400">
                <a:solidFill>
                  <a:srgbClr val="15171A"/>
                </a:solidFill>
                <a:latin typeface="Calibri"/>
              </a:rPr>
              <a:t>•  No lock-in to one embedding model, one vector store, one reranker</a:t>
            </a:r>
          </a:p>
          <a:p>
            <a:pPr>
              <a:spcAft>
                <a:spcPts val="400"/>
              </a:spcAft>
            </a:pPr>
            <a:r>
              <a:rPr sz="1400">
                <a:solidFill>
                  <a:srgbClr val="15171A"/>
                </a:solidFill>
                <a:latin typeface="Calibri"/>
              </a:rPr>
              <a:t>•  Open formats: Parquet for structured, Docling for unstructured, OpenSearch for retrieval</a:t>
            </a:r>
          </a:p>
          <a:p>
            <a:pPr>
              <a:spcAft>
                <a:spcPts val="400"/>
              </a:spcAft>
            </a:pPr>
            <a:r>
              <a:rPr sz="1400">
                <a:solidFill>
                  <a:srgbClr val="15171A"/>
                </a:solidFill>
                <a:latin typeface="Calibri"/>
              </a:rPr>
              <a:t>•  IBM’s position: watsonx.ai + watsonx.data + OpenSearch is the open stack</a:t>
            </a:r>
          </a:p>
          <a:p>
            <a:pPr>
              <a:spcAft>
                <a:spcPts val="400"/>
              </a:spcAft>
            </a:pPr>
            <a:r>
              <a:rPr sz="1400">
                <a:solidFill>
                  <a:srgbClr val="15171A"/>
                </a:solidFill>
                <a:latin typeface="Calibri"/>
              </a:rPr>
              <a:t>•  Contrast with closed alternatives (Azure AI Search + Azure OpenAI, Bedrock + Kendra)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2.4 — MCP AND THE AGENT CONTROL PLANE</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The integration contract between agents and your enterprise.</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2 — AI-Era</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33 / 58</a:t>
            </a:r>
          </a:p>
        </p:txBody>
      </p:sp>
      <p:sp>
        <p:nvSpPr>
          <p:cNvPr id="8" name="TextBox 7"/>
          <p:cNvSpPr txBox="1"/>
          <p:nvPr/>
        </p:nvSpPr>
        <p:spPr>
          <a:xfrm>
            <a:off x="731520" y="1737360"/>
            <a:ext cx="9144000" cy="4114800"/>
          </a:xfrm>
          <a:prstGeom prst="rect">
            <a:avLst/>
          </a:prstGeom>
          <a:noFill/>
        </p:spPr>
        <p:txBody>
          <a:bodyPr wrap="square"/>
          <a:lstStyle/>
          <a:p>
            <a:pPr>
              <a:spcAft>
                <a:spcPts val="400"/>
              </a:spcAft>
            </a:pPr>
            <a:r>
              <a:rPr sz="1400">
                <a:solidFill>
                  <a:srgbClr val="15171A"/>
                </a:solidFill>
                <a:latin typeface="Calibri"/>
              </a:rPr>
              <a:t>•  Why MCP matters for data architects: standardized tool interface for agents</a:t>
            </a:r>
          </a:p>
          <a:p>
            <a:pPr>
              <a:spcAft>
                <a:spcPts val="400"/>
              </a:spcAft>
            </a:pPr>
            <a:r>
              <a:rPr sz="1400">
                <a:solidFill>
                  <a:srgbClr val="15171A"/>
                </a:solidFill>
                <a:latin typeface="Calibri"/>
              </a:rPr>
              <a:t>•  The problem it solves: every agent framework has its own tool-calling convention</a:t>
            </a:r>
          </a:p>
          <a:p>
            <a:pPr>
              <a:spcAft>
                <a:spcPts val="400"/>
              </a:spcAft>
            </a:pPr>
            <a:r>
              <a:rPr sz="1400">
                <a:solidFill>
                  <a:srgbClr val="15171A"/>
                </a:solidFill>
                <a:latin typeface="Calibri"/>
              </a:rPr>
              <a:t>•  MCP as the “JDBC of agents” — one contract, many implementations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2.4 — CONTEXT FORGE</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The missing layer between AI agents and your enterprise.</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2 — AI-Era</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34 / 58</a:t>
            </a:r>
          </a:p>
        </p:txBody>
      </p:sp>
      <p:sp>
        <p:nvSpPr>
          <p:cNvPr id="8" name="TextBox 7"/>
          <p:cNvSpPr txBox="1"/>
          <p:nvPr/>
        </p:nvSpPr>
        <p:spPr>
          <a:xfrm>
            <a:off x="731520" y="1737360"/>
            <a:ext cx="9144000" cy="4114800"/>
          </a:xfrm>
          <a:prstGeom prst="rect">
            <a:avLst/>
          </a:prstGeom>
          <a:noFill/>
        </p:spPr>
        <p:txBody>
          <a:bodyPr wrap="square"/>
          <a:lstStyle/>
          <a:p>
            <a:pPr>
              <a:spcAft>
                <a:spcPts val="400"/>
              </a:spcAft>
            </a:pPr>
            <a:r>
              <a:rPr sz="1400">
                <a:solidFill>
                  <a:srgbClr val="15171A"/>
                </a:solidFill>
                <a:latin typeface="Calibri"/>
              </a:rPr>
              <a:t>•  NHI attribution (non-human identity — which agent, which tool, which user delegated)</a:t>
            </a:r>
          </a:p>
          <a:p>
            <a:pPr>
              <a:spcAft>
                <a:spcPts val="400"/>
              </a:spcAft>
            </a:pPr>
            <a:r>
              <a:rPr sz="1400">
                <a:solidFill>
                  <a:srgbClr val="15171A"/>
                </a:solidFill>
                <a:latin typeface="Calibri"/>
              </a:rPr>
              <a:t>•  Blast radius control (what can this agent touch?)</a:t>
            </a:r>
          </a:p>
          <a:p>
            <a:pPr>
              <a:spcAft>
                <a:spcPts val="400"/>
              </a:spcAft>
            </a:pPr>
            <a:r>
              <a:rPr sz="1400">
                <a:solidFill>
                  <a:srgbClr val="15171A"/>
                </a:solidFill>
                <a:latin typeface="Calibri"/>
              </a:rPr>
              <a:t>•  HITL gate (human-in-the-loop for high-risk actions)</a:t>
            </a:r>
          </a:p>
          <a:p>
            <a:pPr>
              <a:spcAft>
                <a:spcPts val="400"/>
              </a:spcAft>
            </a:pPr>
            <a:r>
              <a:rPr sz="1400">
                <a:solidFill>
                  <a:srgbClr val="15171A"/>
                </a:solidFill>
                <a:latin typeface="Calibri"/>
              </a:rPr>
              <a:t>•  DLP (data loss prevention — PII doesn’t leave the perimeter)</a:t>
            </a:r>
          </a:p>
          <a:p>
            <a:pPr>
              <a:spcAft>
                <a:spcPts val="400"/>
              </a:spcAft>
            </a:pPr>
            <a:r>
              <a:rPr sz="1400">
                <a:solidFill>
                  <a:srgbClr val="15171A"/>
                </a:solidFill>
                <a:latin typeface="Calibri"/>
              </a:rPr>
              <a:t>•  Immutable audit (every tool call logged, tamper-evident)</a:t>
            </a:r>
          </a:p>
          <a:p>
            <a:pPr>
              <a:spcAft>
                <a:spcPts val="400"/>
              </a:spcAft>
            </a:pPr>
            <a:r>
              <a:rPr sz="1400">
                <a:solidFill>
                  <a:srgbClr val="15171A"/>
                </a:solidFill>
                <a:latin typeface="Calibri"/>
              </a:rPr>
              <a:t>•  Anomaly detection (agent doing something unusual? flag it)</a:t>
            </a:r>
          </a:p>
          <a:p>
            <a:pPr>
              <a:spcAft>
                <a:spcPts val="400"/>
              </a:spcAft>
            </a:pPr>
            <a:r>
              <a:rPr sz="1400">
                <a:solidFill>
                  <a:srgbClr val="15171A"/>
                </a:solidFill>
                <a:latin typeface="Calibri"/>
              </a:rPr>
              <a:t>•  This is a gap in the published reference architecture — call it out explicitly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2.2 — DOCLING LIVE DEMO</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Structure-aware extraction in action.</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2 — AI-Era</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35 / 58</a:t>
            </a:r>
          </a:p>
        </p:txBody>
      </p:sp>
      <p:sp>
        <p:nvSpPr>
          <p:cNvPr id="8" name="TextBox 7"/>
          <p:cNvSpPr txBox="1"/>
          <p:nvPr/>
        </p:nvSpPr>
        <p:spPr>
          <a:xfrm>
            <a:off x="731520" y="1737360"/>
            <a:ext cx="10728655" cy="365760"/>
          </a:xfrm>
          <a:prstGeom prst="rect">
            <a:avLst/>
          </a:prstGeom>
          <a:noFill/>
        </p:spPr>
        <p:txBody>
          <a:bodyPr wrap="square" anchor="t"/>
          <a:lstStyle/>
          <a:p>
            <a:pPr algn="l"/>
            <a:r>
              <a:rPr sz="1100" b="1" i="0">
                <a:solidFill>
                  <a:srgbClr val="2D4ADE"/>
                </a:solidFill>
                <a:latin typeface="Consolas"/>
              </a:rPr>
              <a:t>NOTEBOOK TEASER #3</a:t>
            </a:r>
          </a:p>
        </p:txBody>
      </p:sp>
      <p:sp>
        <p:nvSpPr>
          <p:cNvPr id="9" name="TextBox 8"/>
          <p:cNvSpPr txBox="1"/>
          <p:nvPr/>
        </p:nvSpPr>
        <p:spPr>
          <a:xfrm>
            <a:off x="731520" y="2286000"/>
            <a:ext cx="9144000" cy="3200400"/>
          </a:xfrm>
          <a:prstGeom prst="rect">
            <a:avLst/>
          </a:prstGeom>
          <a:noFill/>
        </p:spPr>
        <p:txBody>
          <a:bodyPr wrap="square"/>
          <a:lstStyle/>
          <a:p>
            <a:pPr>
              <a:spcAft>
                <a:spcPts val="400"/>
              </a:spcAft>
            </a:pPr>
            <a:r>
              <a:rPr sz="1400">
                <a:solidFill>
                  <a:srgbClr val="15171A"/>
                </a:solidFill>
                <a:latin typeface="Calibri"/>
              </a:rPr>
              <a:t>•  Open notebooks/06-rag-mdm.ipynb to the Docling cell</a:t>
            </a:r>
          </a:p>
          <a:p>
            <a:pPr>
              <a:spcAft>
                <a:spcPts val="400"/>
              </a:spcAft>
            </a:pPr>
            <a:r>
              <a:rPr sz="1400">
                <a:solidFill>
                  <a:srgbClr val="15171A"/>
                </a:solidFill>
                <a:latin typeface="Calibri"/>
              </a:rPr>
              <a:t>•  Parse a real PDF live — watch the structured output with section headings preserved</a:t>
            </a:r>
          </a:p>
          <a:p>
            <a:pPr>
              <a:spcAft>
                <a:spcPts val="400"/>
              </a:spcAft>
            </a:pPr>
            <a:r>
              <a:rPr sz="1400">
                <a:solidFill>
                  <a:srgbClr val="15171A"/>
                </a:solidFill>
                <a:latin typeface="Calibri"/>
              </a:rPr>
              <a:t>•  This is what goes into the chunking step</a:t>
            </a:r>
          </a:p>
          <a:p>
            <a:pPr>
              <a:spcAft>
                <a:spcPts val="400"/>
              </a:spcAft>
            </a:pPr>
            <a:r>
              <a:rPr sz="1400">
                <a:solidFill>
                  <a:srgbClr val="15171A"/>
                </a:solidFill>
                <a:latin typeface="Calibri"/>
              </a:rPr>
              <a:t>•  Compare with naive 512-character window splitting — this is the fix</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pic>
        <p:nvPicPr>
          <p:cNvPr id="2" name="Picture 1" descr="refarch-annotated2-overlay.png"/>
          <p:cNvPicPr>
            <a:picLocks noChangeAspect="1"/>
          </p:cNvPicPr>
          <p:nvPr/>
        </p:nvPicPr>
        <p:blipFill>
          <a:blip r:embed="rId2"/>
          <a:stretch>
            <a:fillRect/>
          </a:stretch>
        </p:blipFill>
        <p:spPr>
          <a:xfrm>
            <a:off x="0" y="91440"/>
            <a:ext cx="12191695" cy="6766560"/>
          </a:xfrm>
          <a:prstGeom prst="rect">
            <a:avLst/>
          </a:prstGeom>
        </p:spPr>
      </p:pic>
      <p:cxnSp>
        <p:nvCxnSpPr>
          <p:cNvPr id="3" name="Connector 2"/>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2 — AI-Era</a:t>
            </a:r>
          </a:p>
        </p:txBody>
      </p:sp>
      <p:sp>
        <p:nvSpPr>
          <p:cNvPr id="5" name="TextBox 4"/>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36 / 58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1097280" y="1371600"/>
            <a:ext cx="1371600" cy="1371600"/>
          </a:xfrm>
          <a:prstGeom prst="rect">
            <a:avLst/>
          </a:prstGeom>
          <a:noFill/>
        </p:spPr>
        <p:txBody>
          <a:bodyPr wrap="square" anchor="t"/>
          <a:lstStyle/>
          <a:p>
            <a:pPr algn="l"/>
            <a:r>
              <a:rPr sz="9600" b="1" i="0">
                <a:solidFill>
                  <a:srgbClr val="2D4ADE"/>
                </a:solidFill>
                <a:latin typeface="Georgia"/>
              </a:rPr>
              <a:t>“</a:t>
            </a:r>
          </a:p>
        </p:txBody>
      </p:sp>
      <p:sp>
        <p:nvSpPr>
          <p:cNvPr id="3" name="TextBox 2"/>
          <p:cNvSpPr txBox="1"/>
          <p:nvPr/>
        </p:nvSpPr>
        <p:spPr>
          <a:xfrm>
            <a:off x="2194560" y="1828800"/>
            <a:ext cx="8229600" cy="2743200"/>
          </a:xfrm>
          <a:prstGeom prst="rect">
            <a:avLst/>
          </a:prstGeom>
          <a:noFill/>
        </p:spPr>
        <p:txBody>
          <a:bodyPr wrap="square" anchor="ctr"/>
          <a:lstStyle/>
          <a:p>
            <a:pPr algn="l"/>
            <a:r>
              <a:rPr sz="2800" b="0" i="1">
                <a:solidFill>
                  <a:srgbClr val="15171A"/>
                </a:solidFill>
                <a:latin typeface="Georgia"/>
              </a:rPr>
              <a:t>Every bank has data governance. Almost none have AI governance. Zero have agent governance. Those are three different problems.</a:t>
            </a:r>
          </a:p>
        </p:txBody>
      </p:sp>
      <p:cxnSp>
        <p:nvCxnSpPr>
          <p:cNvPr id="4" name="Connector 3"/>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2 — AI-Era</a:t>
            </a:r>
          </a:p>
        </p:txBody>
      </p:sp>
      <p:sp>
        <p:nvSpPr>
          <p:cNvPr id="6" name="TextBox 5"/>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37 / 58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Rectangle 1"/>
          <p:cNvSpPr/>
          <p:nvPr/>
        </p:nvSpPr>
        <p:spPr>
          <a:xfrm>
            <a:off x="0" y="0"/>
            <a:ext cx="12191695" cy="36576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728655" cy="365760"/>
          </a:xfrm>
          <a:prstGeom prst="rect">
            <a:avLst/>
          </a:prstGeom>
          <a:noFill/>
        </p:spPr>
        <p:txBody>
          <a:bodyPr wrap="square" anchor="t"/>
          <a:lstStyle/>
          <a:p>
            <a:pPr algn="l"/>
            <a:r>
              <a:rPr sz="1000" b="0" i="0">
                <a:solidFill>
                  <a:srgbClr val="5C6470"/>
                </a:solidFill>
                <a:latin typeface="Consolas"/>
              </a:rPr>
              <a:t>BLOCK 3 OF 5</a:t>
            </a:r>
          </a:p>
        </p:txBody>
      </p:sp>
      <p:sp>
        <p:nvSpPr>
          <p:cNvPr id="4" name="TextBox 3"/>
          <p:cNvSpPr txBox="1"/>
          <p:nvPr/>
        </p:nvSpPr>
        <p:spPr>
          <a:xfrm>
            <a:off x="731520" y="2377440"/>
            <a:ext cx="10728655" cy="914400"/>
          </a:xfrm>
          <a:prstGeom prst="rect">
            <a:avLst/>
          </a:prstGeom>
          <a:noFill/>
        </p:spPr>
        <p:txBody>
          <a:bodyPr wrap="square" anchor="t"/>
          <a:lstStyle/>
          <a:p>
            <a:pPr algn="l"/>
            <a:r>
              <a:rPr sz="3600" b="1" i="0">
                <a:solidFill>
                  <a:srgbClr val="15171A"/>
                </a:solidFill>
                <a:latin typeface="Georgia"/>
              </a:rPr>
              <a:t>Governance.</a:t>
            </a:r>
          </a:p>
        </p:txBody>
      </p:sp>
      <p:sp>
        <p:nvSpPr>
          <p:cNvPr id="5" name="TextBox 4"/>
          <p:cNvSpPr txBox="1"/>
          <p:nvPr/>
        </p:nvSpPr>
        <p:spPr>
          <a:xfrm>
            <a:off x="731520" y="3474720"/>
            <a:ext cx="9144000" cy="1097280"/>
          </a:xfrm>
          <a:prstGeom prst="rect">
            <a:avLst/>
          </a:prstGeom>
          <a:noFill/>
        </p:spPr>
        <p:txBody>
          <a:bodyPr wrap="square" anchor="t"/>
          <a:lstStyle/>
          <a:p>
            <a:pPr algn="l"/>
            <a:r>
              <a:rPr sz="1800" b="0" i="1">
                <a:solidFill>
                  <a:srgbClr val="3A3F47"/>
                </a:solidFill>
                <a:latin typeface="Georgia"/>
              </a:rPr>
              <a:t>Data governance. AI governance. Agent governance. Three problems, not one.</a:t>
            </a:r>
          </a:p>
        </p:txBody>
      </p:sp>
      <p:sp>
        <p:nvSpPr>
          <p:cNvPr id="6" name="TextBox 5"/>
          <p:cNvSpPr txBox="1"/>
          <p:nvPr/>
        </p:nvSpPr>
        <p:spPr>
          <a:xfrm>
            <a:off x="731520" y="6126480"/>
            <a:ext cx="3657600" cy="365760"/>
          </a:xfrm>
          <a:prstGeom prst="rect">
            <a:avLst/>
          </a:prstGeom>
          <a:noFill/>
        </p:spPr>
        <p:txBody>
          <a:bodyPr wrap="square" anchor="t"/>
          <a:lstStyle/>
          <a:p>
            <a:pPr algn="l"/>
            <a:r>
              <a:rPr sz="1000" b="0" i="0">
                <a:solidFill>
                  <a:srgbClr val="5C6470"/>
                </a:solidFill>
                <a:latin typeface="Consolas"/>
              </a:rPr>
              <a:t>45 MIN</a:t>
            </a:r>
          </a:p>
        </p:txBody>
      </p:sp>
      <p:cxnSp>
        <p:nvCxnSpPr>
          <p:cNvPr id="7" name="Connector 6"/>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Governance</a:t>
            </a:r>
          </a:p>
        </p:txBody>
      </p:sp>
      <p:sp>
        <p:nvSpPr>
          <p:cNvPr id="9" name="TextBox 8"/>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38 / 58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274320"/>
            <a:ext cx="10728655" cy="274320"/>
          </a:xfrm>
          <a:prstGeom prst="rect">
            <a:avLst/>
          </a:prstGeom>
          <a:noFill/>
        </p:spPr>
        <p:txBody>
          <a:bodyPr wrap="square" anchor="t"/>
          <a:lstStyle/>
          <a:p>
            <a:pPr algn="l"/>
            <a:r>
              <a:rPr sz="1000" b="0" i="0">
                <a:solidFill>
                  <a:srgbClr val="2D4ADE"/>
                </a:solidFill>
                <a:latin typeface="Consolas"/>
              </a:rPr>
              <a:t>§ 3.1 — THREE GOVERNANCE PROBLEMS</a:t>
            </a:r>
          </a:p>
        </p:txBody>
      </p:sp>
      <p:sp>
        <p:nvSpPr>
          <p:cNvPr id="3" name="TextBox 2"/>
          <p:cNvSpPr txBox="1"/>
          <p:nvPr/>
        </p:nvSpPr>
        <p:spPr>
          <a:xfrm>
            <a:off x="731520" y="594360"/>
            <a:ext cx="10728655" cy="457200"/>
          </a:xfrm>
          <a:prstGeom prst="rect">
            <a:avLst/>
          </a:prstGeom>
          <a:noFill/>
        </p:spPr>
        <p:txBody>
          <a:bodyPr wrap="square" anchor="t"/>
          <a:lstStyle/>
          <a:p>
            <a:pPr algn="l"/>
            <a:r>
              <a:rPr sz="2800" b="1" i="0">
                <a:solidFill>
                  <a:srgbClr val="15171A"/>
                </a:solidFill>
                <a:latin typeface="Georgia"/>
              </a:rPr>
              <a:t>Treating these as one thing is how enterprises get burned.</a:t>
            </a:r>
          </a:p>
        </p:txBody>
      </p:sp>
      <p:pic>
        <p:nvPicPr>
          <p:cNvPr id="4" name="Picture 3" descr="governance-triad.png"/>
          <p:cNvPicPr>
            <a:picLocks noChangeAspect="1"/>
          </p:cNvPicPr>
          <p:nvPr/>
        </p:nvPicPr>
        <p:blipFill>
          <a:blip r:embed="rId2"/>
          <a:stretch>
            <a:fillRect/>
          </a:stretch>
        </p:blipFill>
        <p:spPr>
          <a:xfrm>
            <a:off x="0" y="1188720"/>
            <a:ext cx="12191695" cy="5669280"/>
          </a:xfrm>
          <a:prstGeom prst="rect">
            <a:avLst/>
          </a:prstGeom>
        </p:spPr>
      </p:pic>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3 — Governance</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39 / 58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3.2 — REGULATED REALITY</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Why every reference architecture you see online is wrong for a Canadian bank.</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3 — Governance</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40 / 58</a:t>
            </a:r>
          </a:p>
        </p:txBody>
      </p:sp>
      <p:sp>
        <p:nvSpPr>
          <p:cNvPr id="8" name="TextBox 7"/>
          <p:cNvSpPr txBox="1"/>
          <p:nvPr/>
        </p:nvSpPr>
        <p:spPr>
          <a:xfrm>
            <a:off x="731520" y="1737360"/>
            <a:ext cx="9144000" cy="3657600"/>
          </a:xfrm>
          <a:prstGeom prst="rect">
            <a:avLst/>
          </a:prstGeom>
          <a:noFill/>
        </p:spPr>
        <p:txBody>
          <a:bodyPr wrap="square"/>
          <a:lstStyle/>
          <a:p>
            <a:pPr>
              <a:spcAft>
                <a:spcPts val="400"/>
              </a:spcAft>
            </a:pPr>
            <a:r>
              <a:rPr sz="1400">
                <a:solidFill>
                  <a:srgbClr val="15171A"/>
                </a:solidFill>
                <a:latin typeface="Calibri"/>
              </a:rPr>
              <a:t>•  OSFI B-13 (technology and cyber risk)</a:t>
            </a:r>
          </a:p>
          <a:p>
            <a:pPr>
              <a:spcAft>
                <a:spcPts val="400"/>
              </a:spcAft>
            </a:pPr>
            <a:r>
              <a:rPr sz="1400">
                <a:solidFill>
                  <a:srgbClr val="15171A"/>
                </a:solidFill>
                <a:latin typeface="Calibri"/>
              </a:rPr>
              <a:t>•  PIPEDA (privacy)</a:t>
            </a:r>
          </a:p>
          <a:p>
            <a:pPr>
              <a:spcAft>
                <a:spcPts val="400"/>
              </a:spcAft>
            </a:pPr>
            <a:r>
              <a:rPr sz="1400">
                <a:solidFill>
                  <a:srgbClr val="15171A"/>
                </a:solidFill>
                <a:latin typeface="Calibri"/>
              </a:rPr>
              <a:t>•  E-23 (model risk management)</a:t>
            </a:r>
          </a:p>
          <a:p>
            <a:pPr>
              <a:spcAft>
                <a:spcPts val="400"/>
              </a:spcAft>
            </a:pPr>
            <a:r>
              <a:rPr sz="1400">
                <a:solidFill>
                  <a:srgbClr val="15171A"/>
                </a:solidFill>
                <a:latin typeface="Calibri"/>
              </a:rPr>
              <a:t>•  SR 11-7 (US model risk, but Canadian banks follow it too)</a:t>
            </a:r>
          </a:p>
          <a:p>
            <a:pPr>
              <a:spcAft>
                <a:spcPts val="400"/>
              </a:spcAft>
            </a:pPr>
            <a:r>
              <a:rPr sz="1400">
                <a:solidFill>
                  <a:srgbClr val="15171A"/>
                </a:solidFill>
                <a:latin typeface="Calibri"/>
              </a:rPr>
              <a:t>•  Lineage-to-audit-trail requirements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3.2 — SOVEREIGNTY</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Three different things, frequently confused.</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3 — Governance</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41 / 58</a:t>
            </a:r>
          </a:p>
        </p:txBody>
      </p:sp>
      <p:graphicFrame>
        <p:nvGraphicFramePr>
          <p:cNvPr id="8" name="Table 7"/>
          <p:cNvGraphicFramePr>
            <a:graphicFrameLocks noGrp="1"/>
          </p:cNvGraphicFramePr>
          <p:nvPr/>
        </p:nvGraphicFramePr>
        <p:xfrm>
          <a:off x="731520" y="1645920"/>
          <a:ext cx="9144000" cy="1645920"/>
        </p:xfrm>
        <a:graphic>
          <a:graphicData uri="http://schemas.openxmlformats.org/drawingml/2006/table">
            <a:tbl>
              <a:tblPr firstRow="1" bandRow="1">
                <a:tableStyleId>{5C22544A-7EE6-4342-B048-85BDC9FD1C3A}</a:tableStyleId>
              </a:tblPr>
              <a:tblGrid>
                <a:gridCol w="3200400"/>
                <a:gridCol w="5943600"/>
              </a:tblGrid>
              <a:tr h="411480">
                <a:tc>
                  <a:txBody>
                    <a:bodyPr/>
                    <a:lstStyle/>
                    <a:p>
                      <a:pPr algn="l"/>
                      <a:r>
                        <a:rPr sz="1100" b="1">
                          <a:solidFill>
                            <a:srgbClr val="5C6470"/>
                          </a:solidFill>
                          <a:latin typeface="Consolas"/>
                        </a:rPr>
                        <a:t>TERM</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100" b="1">
                          <a:solidFill>
                            <a:srgbClr val="5C6470"/>
                          </a:solidFill>
                          <a:latin typeface="Consolas"/>
                        </a:rPr>
                        <a:t>DEFINITION</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Data Residency</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Data physically stays in Canada</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Data Sovereignty</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Canadian law governs the data</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Operational Sovereignty</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Canadian operators control the infrastructure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bl>
          </a:graphicData>
        </a:graphic>
      </p:graphicFrame>
      <p:sp>
        <p:nvSpPr>
          <p:cNvPr id="9" name="TextBox 8"/>
          <p:cNvSpPr txBox="1"/>
          <p:nvPr/>
        </p:nvSpPr>
        <p:spPr>
          <a:xfrm>
            <a:off x="731520" y="3840480"/>
            <a:ext cx="9144000" cy="548640"/>
          </a:xfrm>
          <a:prstGeom prst="rect">
            <a:avLst/>
          </a:prstGeom>
          <a:noFill/>
        </p:spPr>
        <p:txBody>
          <a:bodyPr wrap="square" anchor="t"/>
          <a:lstStyle/>
          <a:p>
            <a:pPr algn="l"/>
            <a:r>
              <a:rPr sz="1400" b="0" i="1">
                <a:solidFill>
                  <a:srgbClr val="3A3F47"/>
                </a:solidFill>
                <a:latin typeface="Georgia"/>
              </a:rPr>
              <a:t>“Sovereignty, not solitude.” — Sovereignty doesn’t mean isolation.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3.3 — DATA OBSERVABILITY</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The triad nobody has all three of.</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3 — Governance</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42 / 58</a:t>
            </a:r>
          </a:p>
        </p:txBody>
      </p:sp>
      <p:sp>
        <p:nvSpPr>
          <p:cNvPr id="8" name="TextBox 7"/>
          <p:cNvSpPr txBox="1"/>
          <p:nvPr/>
        </p:nvSpPr>
        <p:spPr>
          <a:xfrm>
            <a:off x="731520" y="1737360"/>
            <a:ext cx="9144000" cy="4114800"/>
          </a:xfrm>
          <a:prstGeom prst="rect">
            <a:avLst/>
          </a:prstGeom>
          <a:noFill/>
        </p:spPr>
        <p:txBody>
          <a:bodyPr wrap="square"/>
          <a:lstStyle/>
          <a:p>
            <a:pPr>
              <a:spcAft>
                <a:spcPts val="400"/>
              </a:spcAft>
            </a:pPr>
            <a:r>
              <a:rPr sz="1400">
                <a:solidFill>
                  <a:srgbClr val="15171A"/>
                </a:solidFill>
                <a:latin typeface="Calibri"/>
              </a:rPr>
              <a:t>•  Data observability: quality, freshness, schema drift, pipeline SLOs</a:t>
            </a:r>
          </a:p>
          <a:p>
            <a:pPr>
              <a:spcAft>
                <a:spcPts val="400"/>
              </a:spcAft>
            </a:pPr>
            <a:r>
              <a:rPr sz="1400">
                <a:solidFill>
                  <a:srgbClr val="15171A"/>
                </a:solidFill>
                <a:latin typeface="Calibri"/>
              </a:rPr>
              <a:t>•  Model observability: bias, drift, performance degradation</a:t>
            </a:r>
          </a:p>
          <a:p>
            <a:pPr>
              <a:spcAft>
                <a:spcPts val="400"/>
              </a:spcAft>
            </a:pPr>
            <a:r>
              <a:rPr sz="1400">
                <a:solidFill>
                  <a:srgbClr val="15171A"/>
                </a:solidFill>
                <a:latin typeface="Calibri"/>
              </a:rPr>
              <a:t>•  Agent trace observability: tool call logs, latency, error rates, anomaly detection</a:t>
            </a:r>
          </a:p>
          <a:p>
            <a:pPr>
              <a:spcAft>
                <a:spcPts val="400"/>
              </a:spcAft>
            </a:pPr>
            <a:r>
              <a:rPr sz="1400">
                <a:solidFill>
                  <a:srgbClr val="15171A"/>
                </a:solidFill>
                <a:latin typeface="Calibri"/>
              </a:rPr>
              <a:t>•  Tools: Monte Carlo, Bigeye, IBM Databand, OpenLineage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3.4 — GOVERNANCE AS ARCHITECTURE</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75 sub-capabilities, 10 domains. Overview only — we’ll go deep another day.</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3 — Governance</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43 / 58</a:t>
            </a:r>
          </a:p>
        </p:txBody>
      </p:sp>
      <p:sp>
        <p:nvSpPr>
          <p:cNvPr id="8" name="Rectangle 7"/>
          <p:cNvSpPr/>
          <p:nvPr/>
        </p:nvSpPr>
        <p:spPr>
          <a:xfrm>
            <a:off x="914400" y="2011680"/>
            <a:ext cx="1920240" cy="73152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48840"/>
            <a:ext cx="1920240" cy="457200"/>
          </a:xfrm>
          <a:prstGeom prst="rect">
            <a:avLst/>
          </a:prstGeom>
          <a:noFill/>
        </p:spPr>
        <p:txBody>
          <a:bodyPr wrap="square" anchor="ctr"/>
          <a:lstStyle/>
          <a:p>
            <a:pPr algn="ctr"/>
            <a:r>
              <a:rPr sz="1400" b="1" i="0">
                <a:solidFill>
                  <a:srgbClr val="FFFFFF"/>
                </a:solidFill>
                <a:latin typeface="Consolas"/>
              </a:rPr>
              <a:t>Identity</a:t>
            </a:r>
          </a:p>
        </p:txBody>
      </p:sp>
      <p:sp>
        <p:nvSpPr>
          <p:cNvPr id="10" name="Rectangle 9"/>
          <p:cNvSpPr/>
          <p:nvPr/>
        </p:nvSpPr>
        <p:spPr>
          <a:xfrm>
            <a:off x="3063240" y="2011680"/>
            <a:ext cx="1920240" cy="73152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63240" y="2148840"/>
            <a:ext cx="1920240" cy="457200"/>
          </a:xfrm>
          <a:prstGeom prst="rect">
            <a:avLst/>
          </a:prstGeom>
          <a:noFill/>
        </p:spPr>
        <p:txBody>
          <a:bodyPr wrap="square" anchor="ctr"/>
          <a:lstStyle/>
          <a:p>
            <a:pPr algn="ctr"/>
            <a:r>
              <a:rPr sz="1400" b="1" i="0">
                <a:solidFill>
                  <a:srgbClr val="FFFFFF"/>
                </a:solidFill>
                <a:latin typeface="Consolas"/>
              </a:rPr>
              <a:t>Authorization</a:t>
            </a:r>
          </a:p>
        </p:txBody>
      </p:sp>
      <p:sp>
        <p:nvSpPr>
          <p:cNvPr id="12" name="Rectangle 11"/>
          <p:cNvSpPr/>
          <p:nvPr/>
        </p:nvSpPr>
        <p:spPr>
          <a:xfrm>
            <a:off x="5212080" y="2011680"/>
            <a:ext cx="1920240" cy="73152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2148840"/>
            <a:ext cx="1920240" cy="457200"/>
          </a:xfrm>
          <a:prstGeom prst="rect">
            <a:avLst/>
          </a:prstGeom>
          <a:noFill/>
        </p:spPr>
        <p:txBody>
          <a:bodyPr wrap="square" anchor="ctr"/>
          <a:lstStyle/>
          <a:p>
            <a:pPr algn="ctr"/>
            <a:r>
              <a:rPr sz="1400" b="1" i="0">
                <a:solidFill>
                  <a:srgbClr val="FFFFFF"/>
                </a:solidFill>
                <a:latin typeface="Consolas"/>
              </a:rPr>
              <a:t>Audit</a:t>
            </a:r>
          </a:p>
        </p:txBody>
      </p:sp>
      <p:sp>
        <p:nvSpPr>
          <p:cNvPr id="14" name="Rectangle 13"/>
          <p:cNvSpPr/>
          <p:nvPr/>
        </p:nvSpPr>
        <p:spPr>
          <a:xfrm>
            <a:off x="7360920" y="2011680"/>
            <a:ext cx="1920240" cy="73152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0920" y="2148840"/>
            <a:ext cx="1920240" cy="457200"/>
          </a:xfrm>
          <a:prstGeom prst="rect">
            <a:avLst/>
          </a:prstGeom>
          <a:noFill/>
        </p:spPr>
        <p:txBody>
          <a:bodyPr wrap="square" anchor="ctr"/>
          <a:lstStyle/>
          <a:p>
            <a:pPr algn="ctr"/>
            <a:r>
              <a:rPr sz="1400" b="1" i="0">
                <a:solidFill>
                  <a:srgbClr val="FFFFFF"/>
                </a:solidFill>
                <a:latin typeface="Consolas"/>
              </a:rPr>
              <a:t>Evaluation</a:t>
            </a:r>
          </a:p>
        </p:txBody>
      </p:sp>
      <p:sp>
        <p:nvSpPr>
          <p:cNvPr id="16" name="Rectangle 15"/>
          <p:cNvSpPr/>
          <p:nvPr/>
        </p:nvSpPr>
        <p:spPr>
          <a:xfrm>
            <a:off x="9509760" y="2011680"/>
            <a:ext cx="1920240" cy="73152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09760" y="2148840"/>
            <a:ext cx="1920240" cy="457200"/>
          </a:xfrm>
          <a:prstGeom prst="rect">
            <a:avLst/>
          </a:prstGeom>
          <a:noFill/>
        </p:spPr>
        <p:txBody>
          <a:bodyPr wrap="square" anchor="ctr"/>
          <a:lstStyle/>
          <a:p>
            <a:pPr algn="ctr"/>
            <a:r>
              <a:rPr sz="1400" b="1" i="0">
                <a:solidFill>
                  <a:srgbClr val="FFFFFF"/>
                </a:solidFill>
                <a:latin typeface="Consolas"/>
              </a:rPr>
              <a:t>Safety</a:t>
            </a:r>
          </a:p>
        </p:txBody>
      </p:sp>
      <p:sp>
        <p:nvSpPr>
          <p:cNvPr id="18" name="Rectangle 17"/>
          <p:cNvSpPr/>
          <p:nvPr/>
        </p:nvSpPr>
        <p:spPr>
          <a:xfrm>
            <a:off x="914400" y="3017520"/>
            <a:ext cx="1920240" cy="73152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154680"/>
            <a:ext cx="1920240" cy="457200"/>
          </a:xfrm>
          <a:prstGeom prst="rect">
            <a:avLst/>
          </a:prstGeom>
          <a:noFill/>
        </p:spPr>
        <p:txBody>
          <a:bodyPr wrap="square" anchor="ctr"/>
          <a:lstStyle/>
          <a:p>
            <a:pPr algn="ctr"/>
            <a:r>
              <a:rPr sz="1400" b="1" i="0">
                <a:solidFill>
                  <a:srgbClr val="FFFFFF"/>
                </a:solidFill>
                <a:latin typeface="Consolas"/>
              </a:rPr>
              <a:t>Privacy</a:t>
            </a:r>
          </a:p>
        </p:txBody>
      </p:sp>
      <p:sp>
        <p:nvSpPr>
          <p:cNvPr id="20" name="Rectangle 19"/>
          <p:cNvSpPr/>
          <p:nvPr/>
        </p:nvSpPr>
        <p:spPr>
          <a:xfrm>
            <a:off x="3063240" y="3017520"/>
            <a:ext cx="1920240" cy="73152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63240" y="3154680"/>
            <a:ext cx="1920240" cy="457200"/>
          </a:xfrm>
          <a:prstGeom prst="rect">
            <a:avLst/>
          </a:prstGeom>
          <a:noFill/>
        </p:spPr>
        <p:txBody>
          <a:bodyPr wrap="square" anchor="ctr"/>
          <a:lstStyle/>
          <a:p>
            <a:pPr algn="ctr"/>
            <a:r>
              <a:rPr sz="1400" b="1" i="0">
                <a:solidFill>
                  <a:srgbClr val="FFFFFF"/>
                </a:solidFill>
                <a:latin typeface="Consolas"/>
              </a:rPr>
              <a:t>Quality</a:t>
            </a:r>
          </a:p>
        </p:txBody>
      </p:sp>
      <p:sp>
        <p:nvSpPr>
          <p:cNvPr id="22" name="Rectangle 21"/>
          <p:cNvSpPr/>
          <p:nvPr/>
        </p:nvSpPr>
        <p:spPr>
          <a:xfrm>
            <a:off x="5212080" y="3017520"/>
            <a:ext cx="1920240" cy="73152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3154680"/>
            <a:ext cx="1920240" cy="457200"/>
          </a:xfrm>
          <a:prstGeom prst="rect">
            <a:avLst/>
          </a:prstGeom>
          <a:noFill/>
        </p:spPr>
        <p:txBody>
          <a:bodyPr wrap="square" anchor="ctr"/>
          <a:lstStyle/>
          <a:p>
            <a:pPr algn="ctr"/>
            <a:r>
              <a:rPr sz="1400" b="1" i="0">
                <a:solidFill>
                  <a:srgbClr val="FFFFFF"/>
                </a:solidFill>
                <a:latin typeface="Consolas"/>
              </a:rPr>
              <a:t>Observability</a:t>
            </a:r>
          </a:p>
        </p:txBody>
      </p:sp>
      <p:sp>
        <p:nvSpPr>
          <p:cNvPr id="24" name="Rectangle 23"/>
          <p:cNvSpPr/>
          <p:nvPr/>
        </p:nvSpPr>
        <p:spPr>
          <a:xfrm>
            <a:off x="7360920" y="3017520"/>
            <a:ext cx="1920240" cy="73152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0920" y="3154680"/>
            <a:ext cx="1920240" cy="457200"/>
          </a:xfrm>
          <a:prstGeom prst="rect">
            <a:avLst/>
          </a:prstGeom>
          <a:noFill/>
        </p:spPr>
        <p:txBody>
          <a:bodyPr wrap="square" anchor="ctr"/>
          <a:lstStyle/>
          <a:p>
            <a:pPr algn="ctr"/>
            <a:r>
              <a:rPr sz="1400" b="1" i="0">
                <a:solidFill>
                  <a:srgbClr val="FFFFFF"/>
                </a:solidFill>
                <a:latin typeface="Consolas"/>
              </a:rPr>
              <a:t>Lifecycle</a:t>
            </a:r>
          </a:p>
        </p:txBody>
      </p:sp>
      <p:sp>
        <p:nvSpPr>
          <p:cNvPr id="26" name="Rectangle 25"/>
          <p:cNvSpPr/>
          <p:nvPr/>
        </p:nvSpPr>
        <p:spPr>
          <a:xfrm>
            <a:off x="9509760" y="3017520"/>
            <a:ext cx="1920240" cy="73152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09760" y="3154680"/>
            <a:ext cx="1920240" cy="457200"/>
          </a:xfrm>
          <a:prstGeom prst="rect">
            <a:avLst/>
          </a:prstGeom>
          <a:noFill/>
        </p:spPr>
        <p:txBody>
          <a:bodyPr wrap="square" anchor="ctr"/>
          <a:lstStyle/>
          <a:p>
            <a:pPr algn="ctr"/>
            <a:r>
              <a:rPr sz="1400" b="1" i="0">
                <a:solidFill>
                  <a:srgbClr val="FFFFFF"/>
                </a:solidFill>
                <a:latin typeface="Consolas"/>
              </a:rPr>
              <a:t>Compliance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3.4 — BANK QUESTIONNAIRE MAPPING</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How RBC, CIBC, and Scotia approach this differently.</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3 — Governance</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44 / 58</a:t>
            </a:r>
          </a:p>
        </p:txBody>
      </p:sp>
      <p:sp>
        <p:nvSpPr>
          <p:cNvPr id="8" name="TextBox 7"/>
          <p:cNvSpPr txBox="1"/>
          <p:nvPr/>
        </p:nvSpPr>
        <p:spPr>
          <a:xfrm>
            <a:off x="731520" y="1737360"/>
            <a:ext cx="9144000" cy="3657600"/>
          </a:xfrm>
          <a:prstGeom prst="rect">
            <a:avLst/>
          </a:prstGeom>
          <a:noFill/>
        </p:spPr>
        <p:txBody>
          <a:bodyPr wrap="square"/>
          <a:lstStyle/>
          <a:p>
            <a:pPr>
              <a:spcAft>
                <a:spcPts val="400"/>
              </a:spcAft>
            </a:pPr>
            <a:r>
              <a:rPr sz="1400">
                <a:solidFill>
                  <a:srgbClr val="15171A"/>
                </a:solidFill>
                <a:latin typeface="Calibri"/>
              </a:rPr>
              <a:t>•  Real bank governance questionnaires have 60–80 domains</a:t>
            </a:r>
          </a:p>
          <a:p>
            <a:pPr>
              <a:spcAft>
                <a:spcPts val="400"/>
              </a:spcAft>
            </a:pPr>
            <a:r>
              <a:rPr sz="1400">
                <a:solidFill>
                  <a:srgbClr val="15171A"/>
                </a:solidFill>
                <a:latin typeface="Calibri"/>
              </a:rPr>
              <a:t>•  The 10-domain agentic governance framework maps to the top 15–20</a:t>
            </a:r>
          </a:p>
          <a:p>
            <a:pPr>
              <a:spcAft>
                <a:spcPts val="400"/>
              </a:spcAft>
            </a:pPr>
            <a:r>
              <a:rPr sz="1400">
                <a:solidFill>
                  <a:srgbClr val="15171A"/>
                </a:solidFill>
                <a:latin typeface="Calibri"/>
              </a:rPr>
              <a:t>•  Anonymized patterns: one bank leads with privacy, another with model risk, a third with operational risk</a:t>
            </a:r>
          </a:p>
          <a:p>
            <a:pPr>
              <a:spcAft>
                <a:spcPts val="400"/>
              </a:spcAft>
            </a:pPr>
            <a:r>
              <a:rPr sz="1400">
                <a:solidFill>
                  <a:srgbClr val="15171A"/>
                </a:solidFill>
                <a:latin typeface="Calibri"/>
              </a:rPr>
              <a:t>•  “Sovereignty, not solitude” applied to governance: federate where you can, centralize where you must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3.4 — WATSONX.GOVERNANCE</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Where HITL and BPM integration fits.</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3 — Governance</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45 / 58</a:t>
            </a:r>
          </a:p>
        </p:txBody>
      </p:sp>
      <p:sp>
        <p:nvSpPr>
          <p:cNvPr id="8" name="TextBox 7"/>
          <p:cNvSpPr txBox="1"/>
          <p:nvPr/>
        </p:nvSpPr>
        <p:spPr>
          <a:xfrm>
            <a:off x="731520" y="1737360"/>
            <a:ext cx="9144000" cy="3657600"/>
          </a:xfrm>
          <a:prstGeom prst="rect">
            <a:avLst/>
          </a:prstGeom>
          <a:noFill/>
        </p:spPr>
        <p:txBody>
          <a:bodyPr wrap="square"/>
          <a:lstStyle/>
          <a:p>
            <a:pPr>
              <a:spcAft>
                <a:spcPts val="400"/>
              </a:spcAft>
            </a:pPr>
            <a:r>
              <a:rPr sz="1400">
                <a:solidFill>
                  <a:srgbClr val="15171A"/>
                </a:solidFill>
                <a:latin typeface="Calibri"/>
              </a:rPr>
              <a:t>•  watsonx.governance: model inventory, AI Factsheets, bias/drift monitoring</a:t>
            </a:r>
          </a:p>
          <a:p>
            <a:pPr>
              <a:spcAft>
                <a:spcPts val="400"/>
              </a:spcAft>
            </a:pPr>
            <a:r>
              <a:rPr sz="1400">
                <a:solidFill>
                  <a:srgbClr val="15171A"/>
                </a:solidFill>
                <a:latin typeface="Calibri"/>
              </a:rPr>
              <a:t>•  Orchestrate: where human-in-the-loop and BPM integration happens</a:t>
            </a:r>
          </a:p>
          <a:p>
            <a:pPr>
              <a:spcAft>
                <a:spcPts val="400"/>
              </a:spcAft>
            </a:pPr>
            <a:r>
              <a:rPr sz="1400">
                <a:solidFill>
                  <a:srgbClr val="15171A"/>
                </a:solidFill>
                <a:latin typeface="Calibri"/>
              </a:rPr>
              <a:t>•  Plugin-based governance: how Context Forge extends the framework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3.5 — AGENT THREAT MODEL</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Autonomous tool use is a new attack surface.</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3 — Governance</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46 / 58</a:t>
            </a:r>
          </a:p>
        </p:txBody>
      </p:sp>
      <p:sp>
        <p:nvSpPr>
          <p:cNvPr id="8" name="TextBox 7"/>
          <p:cNvSpPr txBox="1"/>
          <p:nvPr/>
        </p:nvSpPr>
        <p:spPr>
          <a:xfrm>
            <a:off x="731520" y="1737360"/>
            <a:ext cx="9144000" cy="4114800"/>
          </a:xfrm>
          <a:prstGeom prst="rect">
            <a:avLst/>
          </a:prstGeom>
          <a:noFill/>
        </p:spPr>
        <p:txBody>
          <a:bodyPr wrap="square"/>
          <a:lstStyle/>
          <a:p>
            <a:pPr>
              <a:spcAft>
                <a:spcPts val="400"/>
              </a:spcAft>
            </a:pPr>
            <a:r>
              <a:rPr sz="1400">
                <a:solidFill>
                  <a:srgbClr val="15171A"/>
                </a:solidFill>
                <a:latin typeface="Calibri"/>
              </a:rPr>
              <a:t>•  Lateral movement via tool chains</a:t>
            </a:r>
          </a:p>
          <a:p>
            <a:pPr>
              <a:spcAft>
                <a:spcPts val="400"/>
              </a:spcAft>
            </a:pPr>
            <a:r>
              <a:rPr sz="1400">
                <a:solidFill>
                  <a:srgbClr val="15171A"/>
                </a:solidFill>
                <a:latin typeface="Calibri"/>
              </a:rPr>
              <a:t>•  Prompt injection as exfiltration vector</a:t>
            </a:r>
          </a:p>
          <a:p>
            <a:pPr>
              <a:spcAft>
                <a:spcPts val="400"/>
              </a:spcAft>
            </a:pPr>
            <a:r>
              <a:rPr sz="1400">
                <a:solidFill>
                  <a:srgbClr val="15171A"/>
                </a:solidFill>
                <a:latin typeface="Calibri"/>
              </a:rPr>
              <a:t>•  Control plane requirements: identity, authorization, audit, kill switch, eval harness</a:t>
            </a:r>
          </a:p>
          <a:p>
            <a:pPr>
              <a:spcAft>
                <a:spcPts val="400"/>
              </a:spcAft>
            </a:pPr>
            <a:r>
              <a:rPr sz="1400">
                <a:solidFill>
                  <a:srgbClr val="15171A"/>
                </a:solidFill>
                <a:latin typeface="Calibri"/>
              </a:rPr>
              <a:t>•  Where the partner ecosystem (AWS, Google, Microsoft, JPMC, Palo Alto) is converging</a:t>
            </a:r>
          </a:p>
          <a:p>
            <a:pPr>
              <a:spcAft>
                <a:spcPts val="400"/>
              </a:spcAft>
            </a:pPr>
            <a:r>
              <a:rPr sz="1400">
                <a:solidFill>
                  <a:srgbClr val="15171A"/>
                </a:solidFill>
                <a:latin typeface="Calibri"/>
              </a:rPr>
              <a:t>•  Where IBM is differentiated — and where we’re catching up</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pic>
        <p:nvPicPr>
          <p:cNvPr id="2" name="Picture 1" descr="refarch-annotated3-overlay.png"/>
          <p:cNvPicPr>
            <a:picLocks noChangeAspect="1"/>
          </p:cNvPicPr>
          <p:nvPr/>
        </p:nvPicPr>
        <p:blipFill>
          <a:blip r:embed="rId2"/>
          <a:stretch>
            <a:fillRect/>
          </a:stretch>
        </p:blipFill>
        <p:spPr>
          <a:xfrm>
            <a:off x="0" y="91440"/>
            <a:ext cx="12191695" cy="6766560"/>
          </a:xfrm>
          <a:prstGeom prst="rect">
            <a:avLst/>
          </a:prstGeom>
        </p:spPr>
      </p:pic>
      <p:cxnSp>
        <p:nvCxnSpPr>
          <p:cNvPr id="3" name="Connector 2"/>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3 — Governance</a:t>
            </a:r>
          </a:p>
        </p:txBody>
      </p:sp>
      <p:sp>
        <p:nvSpPr>
          <p:cNvPr id="5" name="TextBox 4"/>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47 / 58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3.5 — IBM DIFFERENTIATION</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Where we lead and where we’re catching up.</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3 — Governance</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48 / 58</a:t>
            </a:r>
          </a:p>
        </p:txBody>
      </p:sp>
      <p:graphicFrame>
        <p:nvGraphicFramePr>
          <p:cNvPr id="8" name="Table 7"/>
          <p:cNvGraphicFramePr>
            <a:graphicFrameLocks noGrp="1"/>
          </p:cNvGraphicFramePr>
          <p:nvPr/>
        </p:nvGraphicFramePr>
        <p:xfrm>
          <a:off x="731520" y="1645920"/>
          <a:ext cx="10789920" cy="2057400"/>
        </p:xfrm>
        <a:graphic>
          <a:graphicData uri="http://schemas.openxmlformats.org/drawingml/2006/table">
            <a:tbl>
              <a:tblPr firstRow="1" bandRow="1">
                <a:tableStyleId>{5C22544A-7EE6-4342-B048-85BDC9FD1C3A}</a:tableStyleId>
              </a:tblPr>
              <a:tblGrid>
                <a:gridCol w="5394960"/>
                <a:gridCol w="5394960"/>
              </a:tblGrid>
              <a:tr h="411480">
                <a:tc>
                  <a:txBody>
                    <a:bodyPr/>
                    <a:lstStyle/>
                    <a:p>
                      <a:pPr algn="l"/>
                      <a:r>
                        <a:rPr sz="1100" b="1">
                          <a:solidFill>
                            <a:srgbClr val="5C6470"/>
                          </a:solidFill>
                          <a:latin typeface="Consolas"/>
                        </a:rPr>
                        <a:t>STRENGTH</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100" b="1">
                          <a:solidFill>
                            <a:srgbClr val="5C6470"/>
                          </a:solidFill>
                          <a:latin typeface="Consolas"/>
                        </a:rPr>
                        <a:t>GAP</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a:solidFill>
                            <a:srgbClr val="15171A"/>
                          </a:solidFill>
                          <a:latin typeface="Calibri"/>
                        </a:rPr>
                        <a:t>Knowledge Catalog + lineage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Agent control plane (Context Forge fills this)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a:solidFill>
                            <a:srgbClr val="15171A"/>
                          </a:solidFill>
                          <a:latin typeface="Calibri"/>
                        </a:rPr>
                        <a:t>watsonx.governance + AI Factsheets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Agent trace observability</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a:solidFill>
                            <a:srgbClr val="15171A"/>
                          </a:solidFill>
                          <a:latin typeface="Calibri"/>
                        </a:rPr>
                        <a:t>OpenShift everywhere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Competitive vector store (Milvus vs. managed options)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a:solidFill>
                            <a:srgbClr val="15171A"/>
                          </a:solidFill>
                          <a:latin typeface="Calibri"/>
                        </a:rPr>
                        <a:t>MDM/Match 360</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Open RAG standardization</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Rectangle 1"/>
          <p:cNvSpPr/>
          <p:nvPr/>
        </p:nvSpPr>
        <p:spPr>
          <a:xfrm>
            <a:off x="0" y="0"/>
            <a:ext cx="12191695" cy="36576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728655" cy="365760"/>
          </a:xfrm>
          <a:prstGeom prst="rect">
            <a:avLst/>
          </a:prstGeom>
          <a:noFill/>
        </p:spPr>
        <p:txBody>
          <a:bodyPr wrap="square" anchor="t"/>
          <a:lstStyle/>
          <a:p>
            <a:pPr algn="l"/>
            <a:r>
              <a:rPr sz="1000" b="0" i="0">
                <a:solidFill>
                  <a:srgbClr val="5C6470"/>
                </a:solidFill>
                <a:latin typeface="Consolas"/>
              </a:rPr>
              <a:t>BLOCK 4 OF 5</a:t>
            </a:r>
          </a:p>
        </p:txBody>
      </p:sp>
      <p:sp>
        <p:nvSpPr>
          <p:cNvPr id="4" name="TextBox 3"/>
          <p:cNvSpPr txBox="1"/>
          <p:nvPr/>
        </p:nvSpPr>
        <p:spPr>
          <a:xfrm>
            <a:off x="731520" y="2377440"/>
            <a:ext cx="10728655" cy="914400"/>
          </a:xfrm>
          <a:prstGeom prst="rect">
            <a:avLst/>
          </a:prstGeom>
          <a:noFill/>
        </p:spPr>
        <p:txBody>
          <a:bodyPr wrap="square" anchor="t"/>
          <a:lstStyle/>
          <a:p>
            <a:pPr algn="l"/>
            <a:r>
              <a:rPr sz="3600" b="1" i="0">
                <a:solidFill>
                  <a:srgbClr val="15171A"/>
                </a:solidFill>
                <a:latin typeface="Georgia"/>
              </a:rPr>
              <a:t>Hands-on.</a:t>
            </a:r>
          </a:p>
        </p:txBody>
      </p:sp>
      <p:sp>
        <p:nvSpPr>
          <p:cNvPr id="5" name="TextBox 4"/>
          <p:cNvSpPr txBox="1"/>
          <p:nvPr/>
        </p:nvSpPr>
        <p:spPr>
          <a:xfrm>
            <a:off x="731520" y="3474720"/>
            <a:ext cx="9144000" cy="1097280"/>
          </a:xfrm>
          <a:prstGeom prst="rect">
            <a:avLst/>
          </a:prstGeom>
          <a:noFill/>
        </p:spPr>
        <p:txBody>
          <a:bodyPr wrap="square" anchor="t"/>
          <a:lstStyle/>
          <a:p>
            <a:pPr algn="l"/>
            <a:r>
              <a:rPr sz="1800" b="0" i="1">
                <a:solidFill>
                  <a:srgbClr val="3A3F47"/>
                </a:solidFill>
                <a:latin typeface="Georgia"/>
              </a:rPr>
              <a:t>Two notebooks. One critique. Your turn.</a:t>
            </a:r>
          </a:p>
        </p:txBody>
      </p:sp>
      <p:sp>
        <p:nvSpPr>
          <p:cNvPr id="6" name="TextBox 5"/>
          <p:cNvSpPr txBox="1"/>
          <p:nvPr/>
        </p:nvSpPr>
        <p:spPr>
          <a:xfrm>
            <a:off x="731520" y="6126480"/>
            <a:ext cx="3657600" cy="365760"/>
          </a:xfrm>
          <a:prstGeom prst="rect">
            <a:avLst/>
          </a:prstGeom>
          <a:noFill/>
        </p:spPr>
        <p:txBody>
          <a:bodyPr wrap="square" anchor="t"/>
          <a:lstStyle/>
          <a:p>
            <a:pPr algn="l"/>
            <a:r>
              <a:rPr sz="1000" b="0" i="0">
                <a:solidFill>
                  <a:srgbClr val="5C6470"/>
                </a:solidFill>
                <a:latin typeface="Consolas"/>
              </a:rPr>
              <a:t>60 MIN</a:t>
            </a:r>
          </a:p>
        </p:txBody>
      </p:sp>
      <p:cxnSp>
        <p:nvCxnSpPr>
          <p:cNvPr id="7" name="Connector 6"/>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Hands-on</a:t>
            </a:r>
          </a:p>
        </p:txBody>
      </p:sp>
      <p:sp>
        <p:nvSpPr>
          <p:cNvPr id="9" name="TextBox 8"/>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49 / 58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4.1 — SETUP AND ARCHITECTURE MAP</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Maple Trust Bank: an AML policy Q&amp;A system with full lineage and audit.</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4 — Hands-on</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50 / 58</a:t>
            </a:r>
          </a:p>
        </p:txBody>
      </p:sp>
      <p:sp>
        <p:nvSpPr>
          <p:cNvPr id="8" name="TextBox 7"/>
          <p:cNvSpPr txBox="1"/>
          <p:nvPr/>
        </p:nvSpPr>
        <p:spPr>
          <a:xfrm>
            <a:off x="731520" y="1737360"/>
            <a:ext cx="9144000" cy="3200400"/>
          </a:xfrm>
          <a:prstGeom prst="rect">
            <a:avLst/>
          </a:prstGeom>
          <a:noFill/>
        </p:spPr>
        <p:txBody>
          <a:bodyPr wrap="square"/>
          <a:lstStyle/>
          <a:p>
            <a:pPr>
              <a:spcAft>
                <a:spcPts val="400"/>
              </a:spcAft>
            </a:pPr>
            <a:r>
              <a:rPr sz="1400">
                <a:solidFill>
                  <a:srgbClr val="15171A"/>
                </a:solidFill>
                <a:latin typeface="Calibri"/>
              </a:rPr>
              <a:t>•  Recap the reference architecture one more time</a:t>
            </a:r>
          </a:p>
          <a:p>
            <a:pPr>
              <a:spcAft>
                <a:spcPts val="400"/>
              </a:spcAft>
            </a:pPr>
            <a:r>
              <a:rPr sz="1400">
                <a:solidFill>
                  <a:srgbClr val="15171A"/>
                </a:solidFill>
                <a:latin typeface="Calibri"/>
              </a:rPr>
              <a:t>•  You’ve now seen all five swimlane groups lit up</a:t>
            </a:r>
          </a:p>
          <a:p>
            <a:pPr>
              <a:spcAft>
                <a:spcPts val="400"/>
              </a:spcAft>
            </a:pPr>
            <a:r>
              <a:rPr sz="1400">
                <a:solidFill>
                  <a:srgbClr val="15171A"/>
                </a:solidFill>
                <a:latin typeface="Calibri"/>
              </a:rPr>
              <a:t>•  Now we exercise them in code</a:t>
            </a:r>
          </a:p>
          <a:p>
            <a:pPr>
              <a:spcAft>
                <a:spcPts val="400"/>
              </a:spcAft>
            </a:pPr>
            <a:r>
              <a:rPr sz="1400">
                <a:solidFill>
                  <a:srgbClr val="15171A"/>
                </a:solidFill>
                <a:latin typeface="Calibri"/>
              </a:rPr>
              <a:t>•  The scenario: Maple Trust Bank needs an AML policy Q&amp;A system with full lineage and audit</a:t>
            </a:r>
          </a:p>
          <a:p>
            <a:pPr>
              <a:spcAft>
                <a:spcPts val="400"/>
              </a:spcAft>
            </a:pPr>
            <a:r>
              <a:rPr sz="1400">
                <a:solidFill>
                  <a:srgbClr val="15171A"/>
                </a:solidFill>
                <a:latin typeface="Calibri"/>
              </a:rPr>
              <a:t>•  Two notebooks, two patterns, one story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4.1 — NOTEBOOK MAP</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Which notebook lights which swimlane.</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4 — Hands-on</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51 / 58</a:t>
            </a:r>
          </a:p>
        </p:txBody>
      </p:sp>
      <p:graphicFrame>
        <p:nvGraphicFramePr>
          <p:cNvPr id="8" name="Table 7"/>
          <p:cNvGraphicFramePr>
            <a:graphicFrameLocks noGrp="1"/>
          </p:cNvGraphicFramePr>
          <p:nvPr/>
        </p:nvGraphicFramePr>
        <p:xfrm>
          <a:off x="731520" y="1645920"/>
          <a:ext cx="10789920" cy="2880360"/>
        </p:xfrm>
        <a:graphic>
          <a:graphicData uri="http://schemas.openxmlformats.org/drawingml/2006/table">
            <a:tbl>
              <a:tblPr firstRow="1" bandRow="1">
                <a:tableStyleId>{5C22544A-7EE6-4342-B048-85BDC9FD1C3A}</a:tableStyleId>
              </a:tblPr>
              <a:tblGrid>
                <a:gridCol w="2743200"/>
                <a:gridCol w="4023360"/>
                <a:gridCol w="4023360"/>
              </a:tblGrid>
              <a:tr h="411480">
                <a:tc>
                  <a:txBody>
                    <a:bodyPr/>
                    <a:lstStyle/>
                    <a:p>
                      <a:pPr algn="l"/>
                      <a:r>
                        <a:rPr sz="1100" b="1">
                          <a:solidFill>
                            <a:srgbClr val="5C6470"/>
                          </a:solidFill>
                          <a:latin typeface="Consolas"/>
                        </a:rPr>
                        <a:t>NOTEBOOK</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100" b="1">
                          <a:solidFill>
                            <a:srgbClr val="5C6470"/>
                          </a:solidFill>
                          <a:latin typeface="Consolas"/>
                        </a:rPr>
                        <a:t>SWIMLANE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100" b="1">
                          <a:solidFill>
                            <a:srgbClr val="5C6470"/>
                          </a:solidFill>
                          <a:latin typeface="Consolas"/>
                        </a:rPr>
                        <a:t>MODE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01 Warehouse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Analytical Storage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Take-home (cameo in Block 1)</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02 Data Lake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Raw Storage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Take-home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03 Lakehouse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Analytical Storage + Catalog</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Live now</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04 Virtualization</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Data Access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Take-home (cameo in Block 1)</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05 Data Mesh</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Data Products + Governance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Take-home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06 MDM + RAG</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AI + Governance + Storage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Live now</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2011680"/>
            <a:ext cx="10728655" cy="914400"/>
          </a:xfrm>
          <a:prstGeom prst="rect">
            <a:avLst/>
          </a:prstGeom>
          <a:noFill/>
        </p:spPr>
        <p:txBody>
          <a:bodyPr wrap="square" anchor="ctr"/>
          <a:lstStyle/>
          <a:p>
            <a:pPr algn="ctr"/>
            <a:r>
              <a:rPr sz="3600" b="1" i="0">
                <a:solidFill>
                  <a:srgbClr val="15171A"/>
                </a:solidFill>
                <a:latin typeface="Georgia"/>
              </a:rPr>
              <a:t>Live: Notebook 3</a:t>
            </a:r>
          </a:p>
        </p:txBody>
      </p:sp>
      <p:sp>
        <p:nvSpPr>
          <p:cNvPr id="3" name="TextBox 2"/>
          <p:cNvSpPr txBox="1"/>
          <p:nvPr/>
        </p:nvSpPr>
        <p:spPr>
          <a:xfrm>
            <a:off x="731520" y="3108960"/>
            <a:ext cx="10728655" cy="548640"/>
          </a:xfrm>
          <a:prstGeom prst="rect">
            <a:avLst/>
          </a:prstGeom>
          <a:noFill/>
        </p:spPr>
        <p:txBody>
          <a:bodyPr wrap="square" anchor="t"/>
          <a:lstStyle/>
          <a:p>
            <a:pPr algn="ctr"/>
            <a:r>
              <a:rPr sz="2000" b="0" i="1">
                <a:solidFill>
                  <a:srgbClr val="3A3F47"/>
                </a:solidFill>
                <a:latin typeface="Georgia"/>
              </a:rPr>
              <a:t>Lakehouse Pattern — 15 minutes</a:t>
            </a:r>
          </a:p>
        </p:txBody>
      </p:sp>
      <p:sp>
        <p:nvSpPr>
          <p:cNvPr id="4" name="TextBox 3"/>
          <p:cNvSpPr txBox="1"/>
          <p:nvPr/>
        </p:nvSpPr>
        <p:spPr>
          <a:xfrm>
            <a:off x="731520" y="4023360"/>
            <a:ext cx="10728655" cy="457200"/>
          </a:xfrm>
          <a:prstGeom prst="rect">
            <a:avLst/>
          </a:prstGeom>
          <a:noFill/>
        </p:spPr>
        <p:txBody>
          <a:bodyPr wrap="square" anchor="t"/>
          <a:lstStyle/>
          <a:p>
            <a:pPr algn="ctr"/>
            <a:r>
              <a:rPr sz="1400" b="1" i="0">
                <a:solidFill>
                  <a:srgbClr val="2D4ADE"/>
                </a:solidFill>
                <a:latin typeface="Consolas"/>
              </a:rPr>
              <a:t>notebooks/03-lakehouse.ipynb</a:t>
            </a:r>
          </a:p>
        </p:txBody>
      </p: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4 — Hands-on</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52 / 58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2011680"/>
            <a:ext cx="10728655" cy="914400"/>
          </a:xfrm>
          <a:prstGeom prst="rect">
            <a:avLst/>
          </a:prstGeom>
          <a:noFill/>
        </p:spPr>
        <p:txBody>
          <a:bodyPr wrap="square" anchor="ctr"/>
          <a:lstStyle/>
          <a:p>
            <a:pPr algn="ctr"/>
            <a:r>
              <a:rPr sz="3600" b="1" i="0">
                <a:solidFill>
                  <a:srgbClr val="15171A"/>
                </a:solidFill>
                <a:latin typeface="Georgia"/>
              </a:rPr>
              <a:t>Live: Notebook 6</a:t>
            </a:r>
          </a:p>
        </p:txBody>
      </p:sp>
      <p:sp>
        <p:nvSpPr>
          <p:cNvPr id="3" name="TextBox 2"/>
          <p:cNvSpPr txBox="1"/>
          <p:nvPr/>
        </p:nvSpPr>
        <p:spPr>
          <a:xfrm>
            <a:off x="731520" y="3108960"/>
            <a:ext cx="10728655" cy="548640"/>
          </a:xfrm>
          <a:prstGeom prst="rect">
            <a:avLst/>
          </a:prstGeom>
          <a:noFill/>
        </p:spPr>
        <p:txBody>
          <a:bodyPr wrap="square" anchor="t"/>
          <a:lstStyle/>
          <a:p>
            <a:pPr algn="ctr"/>
            <a:r>
              <a:rPr sz="2000" b="0" i="1">
                <a:solidFill>
                  <a:srgbClr val="3A3F47"/>
                </a:solidFill>
                <a:latin typeface="Georgia"/>
              </a:rPr>
              <a:t>MDM + RAG — 25 minutes</a:t>
            </a:r>
          </a:p>
        </p:txBody>
      </p:sp>
      <p:sp>
        <p:nvSpPr>
          <p:cNvPr id="4" name="TextBox 3"/>
          <p:cNvSpPr txBox="1"/>
          <p:nvPr/>
        </p:nvSpPr>
        <p:spPr>
          <a:xfrm>
            <a:off x="731520" y="4023360"/>
            <a:ext cx="10728655" cy="457200"/>
          </a:xfrm>
          <a:prstGeom prst="rect">
            <a:avLst/>
          </a:prstGeom>
          <a:noFill/>
        </p:spPr>
        <p:txBody>
          <a:bodyPr wrap="square" anchor="t"/>
          <a:lstStyle/>
          <a:p>
            <a:pPr algn="ctr"/>
            <a:r>
              <a:rPr sz="1400" b="1" i="0">
                <a:solidFill>
                  <a:srgbClr val="2D4ADE"/>
                </a:solidFill>
                <a:latin typeface="Consolas"/>
              </a:rPr>
              <a:t>notebooks/06-rag-mdm.ipynb</a:t>
            </a:r>
          </a:p>
        </p:txBody>
      </p: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4 — Hands-on</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53 / 58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 4.4 — ARCHITECTURE CRITIQUE</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Find the failures.</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4 — Hands-on</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54 / 58</a:t>
            </a:r>
          </a:p>
        </p:txBody>
      </p:sp>
      <p:sp>
        <p:nvSpPr>
          <p:cNvPr id="8" name="TextBox 7"/>
          <p:cNvSpPr txBox="1"/>
          <p:nvPr/>
        </p:nvSpPr>
        <p:spPr>
          <a:xfrm>
            <a:off x="731520" y="1737360"/>
            <a:ext cx="9144000" cy="4114800"/>
          </a:xfrm>
          <a:prstGeom prst="rect">
            <a:avLst/>
          </a:prstGeom>
          <a:noFill/>
        </p:spPr>
        <p:txBody>
          <a:bodyPr wrap="square"/>
          <a:lstStyle/>
          <a:p>
            <a:pPr>
              <a:spcAft>
                <a:spcPts val="400"/>
              </a:spcAft>
            </a:pPr>
            <a:r>
              <a:rPr sz="1400">
                <a:solidFill>
                  <a:srgbClr val="15171A"/>
                </a:solidFill>
                <a:latin typeface="Calibri"/>
              </a:rPr>
              <a:t>•  Distribute handouts/critique.md — HealthFirst Insights scenario</a:t>
            </a:r>
          </a:p>
          <a:p>
            <a:pPr>
              <a:spcAft>
                <a:spcPts val="400"/>
              </a:spcAft>
            </a:pPr>
            <a:r>
              <a:rPr sz="1400">
                <a:solidFill>
                  <a:srgbClr val="15171A"/>
                </a:solidFill>
                <a:latin typeface="Calibri"/>
              </a:rPr>
              <a:t>•  Simple RAG sold as “agentic,” tightly coupled .NET/C#, vibes-based eval</a:t>
            </a:r>
          </a:p>
          <a:p>
            <a:pPr>
              <a:spcAft>
                <a:spcPts val="400"/>
              </a:spcAft>
            </a:pPr>
            <a:r>
              <a:rPr sz="1400">
                <a:solidFill>
                  <a:srgbClr val="15171A"/>
                </a:solidFill>
                <a:latin typeface="Calibri"/>
              </a:rPr>
              <a:t>•  PHI sent to a hyperscaler API with no guardrail, multi-tenancy “planned” at DB level</a:t>
            </a:r>
          </a:p>
          <a:p>
            <a:pPr>
              <a:spcAft>
                <a:spcPts val="400"/>
              </a:spcAft>
            </a:pPr>
            <a:r>
              <a:rPr sz="1400">
                <a:solidFill>
                  <a:srgbClr val="15171A"/>
                </a:solidFill>
                <a:latin typeface="Calibri"/>
              </a:rPr>
              <a:t>•  Small groups (3–4 people), 10 min to find failures, 5 min readout</a:t>
            </a:r>
          </a:p>
          <a:p>
            <a:pPr>
              <a:spcAft>
                <a:spcPts val="400"/>
              </a:spcAft>
            </a:pPr>
            <a:r>
              <a:rPr sz="1400">
                <a:solidFill>
                  <a:srgbClr val="15171A"/>
                </a:solidFill>
                <a:latin typeface="Calibri"/>
              </a:rPr>
              <a:t>•  Severity: Critical / High / Medium    Category: Data / AI / Governance / Security / Ops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1097280" y="1371600"/>
            <a:ext cx="1371600" cy="1371600"/>
          </a:xfrm>
          <a:prstGeom prst="rect">
            <a:avLst/>
          </a:prstGeom>
          <a:noFill/>
        </p:spPr>
        <p:txBody>
          <a:bodyPr wrap="square" anchor="t"/>
          <a:lstStyle/>
          <a:p>
            <a:pPr algn="l"/>
            <a:r>
              <a:rPr sz="9600" b="1" i="0">
                <a:solidFill>
                  <a:srgbClr val="2D4ADE"/>
                </a:solidFill>
                <a:latin typeface="Georgia"/>
              </a:rPr>
              <a:t>“</a:t>
            </a:r>
          </a:p>
        </p:txBody>
      </p:sp>
      <p:sp>
        <p:nvSpPr>
          <p:cNvPr id="3" name="TextBox 2"/>
          <p:cNvSpPr txBox="1"/>
          <p:nvPr/>
        </p:nvSpPr>
        <p:spPr>
          <a:xfrm>
            <a:off x="2194560" y="1828800"/>
            <a:ext cx="8229600" cy="2743200"/>
          </a:xfrm>
          <a:prstGeom prst="rect">
            <a:avLst/>
          </a:prstGeom>
          <a:noFill/>
        </p:spPr>
        <p:txBody>
          <a:bodyPr wrap="square" anchor="ctr"/>
          <a:lstStyle/>
          <a:p>
            <a:pPr algn="l"/>
            <a:r>
              <a:rPr sz="2800" b="0" i="1">
                <a:solidFill>
                  <a:srgbClr val="15171A"/>
                </a:solidFill>
                <a:latin typeface="Georgia"/>
              </a:rPr>
              <a:t>Data architecture in 2026 is the integration contract between your enterprise and your agents. Get it wrong and nothing else matters.</a:t>
            </a:r>
          </a:p>
        </p:txBody>
      </p:sp>
      <p:cxnSp>
        <p:nvCxnSpPr>
          <p:cNvPr id="4" name="Connector 3"/>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5 — Close</a:t>
            </a:r>
          </a:p>
        </p:txBody>
      </p:sp>
      <p:sp>
        <p:nvSpPr>
          <p:cNvPr id="6" name="TextBox 5"/>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55 / 58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BLOCK 5 — CLOSE</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Three things to do Monday morning.</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5 — Close</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56 / 58</a:t>
            </a:r>
          </a:p>
        </p:txBody>
      </p:sp>
      <p:graphicFrame>
        <p:nvGraphicFramePr>
          <p:cNvPr id="8" name="Table 7"/>
          <p:cNvGraphicFramePr>
            <a:graphicFrameLocks noGrp="1"/>
          </p:cNvGraphicFramePr>
          <p:nvPr/>
        </p:nvGraphicFramePr>
        <p:xfrm>
          <a:off x="731520" y="2011680"/>
          <a:ext cx="9144000" cy="1645920"/>
        </p:xfrm>
        <a:graphic>
          <a:graphicData uri="http://schemas.openxmlformats.org/drawingml/2006/table">
            <a:tbl>
              <a:tblPr firstRow="1" bandRow="1">
                <a:tableStyleId>{5C22544A-7EE6-4342-B048-85BDC9FD1C3A}</a:tableStyleId>
              </a:tblPr>
              <a:tblGrid>
                <a:gridCol w="2286000"/>
                <a:gridCol w="6858000"/>
              </a:tblGrid>
              <a:tr h="411480">
                <a:tc>
                  <a:txBody>
                    <a:bodyPr/>
                    <a:lstStyle/>
                    <a:p>
                      <a:pPr algn="l"/>
                      <a:r>
                        <a:rPr sz="1100" b="1">
                          <a:solidFill>
                            <a:srgbClr val="5C6470"/>
                          </a:solidFill>
                          <a:latin typeface="Consolas"/>
                        </a:rPr>
                        <a:t>ROLE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100" b="1">
                          <a:solidFill>
                            <a:srgbClr val="5C6470"/>
                          </a:solidFill>
                          <a:latin typeface="Consolas"/>
                        </a:rPr>
                        <a:t>ACTION</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Sellers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Stop selling “AI.” Start selling the data plane that makes AI work.</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Architects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Audit your context engineering and your control plane, not just your RAG pipeline.</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r h="411480">
                <a:tc>
                  <a:txBody>
                    <a:bodyPr/>
                    <a:lstStyle/>
                    <a:p>
                      <a:pPr algn="l"/>
                      <a:r>
                        <a:rPr sz="1400" b="1">
                          <a:solidFill>
                            <a:srgbClr val="2D4ADE"/>
                          </a:solidFill>
                          <a:latin typeface="Calibri"/>
                        </a:rPr>
                        <a:t>SSRs</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c>
                  <a:txBody>
                    <a:bodyPr/>
                    <a:lstStyle/>
                    <a:p>
                      <a:pPr algn="l"/>
                      <a:r>
                        <a:rPr sz="1400">
                          <a:solidFill>
                            <a:srgbClr val="15171A"/>
                          </a:solidFill>
                          <a:latin typeface="Calibri"/>
                        </a:rPr>
                        <a:t>Every incident is now a governance incident.</a:t>
                      </a:r>
                    </a:p>
                  </a:txBody>
                  <a:tcPr anchor="ctr">
                    <a:solidFill>
                      <a:srgbClr val="F4F2EC"/>
                    </a:solidFill>
                    <a:lnL w="6350">
                      <a:solidFill>
                        <a:srgbClr val="C9C4B6"/>
                      </a:solidFill>
                    </a:lnL>
                    <a:lnR w="6350">
                      <a:solidFill>
                        <a:srgbClr val="C9C4B6"/>
                      </a:solidFill>
                    </a:lnR>
                    <a:lnT w="6350">
                      <a:solidFill>
                        <a:srgbClr val="C9C4B6"/>
                      </a:solidFill>
                    </a:lnT>
                    <a:lnB w="6350">
                      <a:solidFill>
                        <a:srgbClr val="C9C4B6"/>
                      </a:solidFill>
                    </a:lnB>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TextBox 1"/>
          <p:cNvSpPr txBox="1"/>
          <p:nvPr/>
        </p:nvSpPr>
        <p:spPr>
          <a:xfrm>
            <a:off x="731520" y="457200"/>
            <a:ext cx="10728655" cy="320040"/>
          </a:xfrm>
          <a:prstGeom prst="rect">
            <a:avLst/>
          </a:prstGeom>
          <a:noFill/>
        </p:spPr>
        <p:txBody>
          <a:bodyPr wrap="square" anchor="t"/>
          <a:lstStyle/>
          <a:p>
            <a:pPr algn="l"/>
            <a:r>
              <a:rPr sz="1000" b="0" i="0">
                <a:solidFill>
                  <a:srgbClr val="2D4ADE"/>
                </a:solidFill>
                <a:latin typeface="Consolas"/>
              </a:rPr>
              <a:t>BLOCK 5 — CLOSE</a:t>
            </a:r>
          </a:p>
        </p:txBody>
      </p:sp>
      <p:sp>
        <p:nvSpPr>
          <p:cNvPr id="3" name="TextBox 2"/>
          <p:cNvSpPr txBox="1"/>
          <p:nvPr/>
        </p:nvSpPr>
        <p:spPr>
          <a:xfrm>
            <a:off x="731520" y="822960"/>
            <a:ext cx="10728655" cy="548640"/>
          </a:xfrm>
          <a:prstGeom prst="rect">
            <a:avLst/>
          </a:prstGeom>
          <a:noFill/>
        </p:spPr>
        <p:txBody>
          <a:bodyPr wrap="square" anchor="t"/>
          <a:lstStyle/>
          <a:p>
            <a:pPr algn="l"/>
            <a:r>
              <a:rPr sz="2800" b="1" i="0">
                <a:solidFill>
                  <a:srgbClr val="15171A"/>
                </a:solidFill>
                <a:latin typeface="Georgia"/>
              </a:rPr>
              <a:t>Pointers.</a:t>
            </a:r>
          </a:p>
        </p:txBody>
      </p:sp>
      <p:cxnSp>
        <p:nvCxnSpPr>
          <p:cNvPr id="4" name="Connector 3"/>
          <p:cNvCxnSpPr/>
          <p:nvPr/>
        </p:nvCxnSpPr>
        <p:spPr>
          <a:xfrm>
            <a:off x="731520" y="14173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Block 5 — Close</a:t>
            </a:r>
          </a:p>
        </p:txBody>
      </p:sp>
      <p:sp>
        <p:nvSpPr>
          <p:cNvPr id="7" name="TextBox 6"/>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57 / 58</a:t>
            </a:r>
          </a:p>
        </p:txBody>
      </p:sp>
      <p:sp>
        <p:nvSpPr>
          <p:cNvPr id="8" name="TextBox 7"/>
          <p:cNvSpPr txBox="1"/>
          <p:nvPr/>
        </p:nvSpPr>
        <p:spPr>
          <a:xfrm>
            <a:off x="731520" y="1737360"/>
            <a:ext cx="9144000" cy="3657600"/>
          </a:xfrm>
          <a:prstGeom prst="rect">
            <a:avLst/>
          </a:prstGeom>
          <a:noFill/>
        </p:spPr>
        <p:txBody>
          <a:bodyPr wrap="square"/>
          <a:lstStyle/>
          <a:p>
            <a:pPr>
              <a:spcAft>
                <a:spcPts val="400"/>
              </a:spcAft>
            </a:pPr>
            <a:r>
              <a:rPr sz="1400">
                <a:solidFill>
                  <a:srgbClr val="2D4ADE"/>
                </a:solidFill>
                <a:latin typeface="Calibri"/>
              </a:rPr>
              <a:t>•  MCP Context Forge: github.com/IBM/mcp-context-forge</a:t>
            </a:r>
          </a:p>
          <a:p>
            <a:pPr>
              <a:spcAft>
                <a:spcPts val="400"/>
              </a:spcAft>
            </a:pPr>
            <a:r>
              <a:rPr sz="1400">
                <a:solidFill>
                  <a:srgbClr val="2D4ADE"/>
                </a:solidFill>
                <a:latin typeface="Calibri"/>
              </a:rPr>
              <a:t>•  factor10.ai — 10 Principles of Enterprise AI</a:t>
            </a:r>
          </a:p>
          <a:p>
            <a:pPr>
              <a:spcAft>
                <a:spcPts val="400"/>
              </a:spcAft>
            </a:pPr>
            <a:r>
              <a:rPr sz="1400">
                <a:solidFill>
                  <a:srgbClr val="2D4ADE"/>
                </a:solidFill>
                <a:latin typeface="Calibri"/>
              </a:rPr>
              <a:t>•  Docling: github.com/DS4SD/docling</a:t>
            </a:r>
          </a:p>
          <a:p>
            <a:pPr>
              <a:spcAft>
                <a:spcPts val="400"/>
              </a:spcAft>
            </a:pPr>
            <a:r>
              <a:rPr sz="1400">
                <a:solidFill>
                  <a:srgbClr val="2D4ADE"/>
                </a:solidFill>
                <a:latin typeface="Calibri"/>
              </a:rPr>
              <a:t>•  OpenSearch hybrid retrieval guide</a:t>
            </a:r>
          </a:p>
          <a:p>
            <a:pPr>
              <a:spcAft>
                <a:spcPts val="400"/>
              </a:spcAft>
            </a:pPr>
            <a:r>
              <a:rPr sz="1400">
                <a:solidFill>
                  <a:srgbClr val="2D4ADE"/>
                </a:solidFill>
                <a:latin typeface="Calibri"/>
              </a:rPr>
              <a:t>•  Internal IBM governance framework doc</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Rectangle 1"/>
          <p:cNvSpPr/>
          <p:nvPr/>
        </p:nvSpPr>
        <p:spPr>
          <a:xfrm>
            <a:off x="0" y="0"/>
            <a:ext cx="12191695" cy="365760"/>
          </a:xfrm>
          <a:prstGeom prst="rect">
            <a:avLst/>
          </a:prstGeom>
          <a:solidFill>
            <a:srgbClr val="2D4A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10728655" cy="365760"/>
          </a:xfrm>
          <a:prstGeom prst="rect">
            <a:avLst/>
          </a:prstGeom>
          <a:noFill/>
        </p:spPr>
        <p:txBody>
          <a:bodyPr wrap="square" anchor="t"/>
          <a:lstStyle/>
          <a:p>
            <a:pPr algn="l"/>
            <a:r>
              <a:rPr sz="1000" b="0" i="0">
                <a:solidFill>
                  <a:srgbClr val="5C6470"/>
                </a:solidFill>
                <a:latin typeface="Consolas"/>
              </a:rPr>
              <a:t>END OF VOLUME ONE</a:t>
            </a:r>
          </a:p>
        </p:txBody>
      </p:sp>
      <p:sp>
        <p:nvSpPr>
          <p:cNvPr id="4" name="TextBox 3"/>
          <p:cNvSpPr txBox="1"/>
          <p:nvPr/>
        </p:nvSpPr>
        <p:spPr>
          <a:xfrm>
            <a:off x="731520" y="2286000"/>
            <a:ext cx="10728655" cy="914400"/>
          </a:xfrm>
          <a:prstGeom prst="rect">
            <a:avLst/>
          </a:prstGeom>
          <a:noFill/>
        </p:spPr>
        <p:txBody>
          <a:bodyPr wrap="square" anchor="t"/>
          <a:lstStyle/>
          <a:p>
            <a:pPr algn="l"/>
            <a:r>
              <a:rPr sz="3600" b="1" i="0">
                <a:solidFill>
                  <a:srgbClr val="15171A"/>
                </a:solidFill>
                <a:latin typeface="Georgia"/>
              </a:rPr>
              <a:t>Six patterns. One conversation.</a:t>
            </a:r>
          </a:p>
        </p:txBody>
      </p:sp>
      <p:sp>
        <p:nvSpPr>
          <p:cNvPr id="5" name="TextBox 4"/>
          <p:cNvSpPr txBox="1"/>
          <p:nvPr/>
        </p:nvSpPr>
        <p:spPr>
          <a:xfrm>
            <a:off x="731520" y="3291840"/>
            <a:ext cx="9144000" cy="1371600"/>
          </a:xfrm>
          <a:prstGeom prst="rect">
            <a:avLst/>
          </a:prstGeom>
          <a:noFill/>
        </p:spPr>
        <p:txBody>
          <a:bodyPr wrap="square" anchor="t"/>
          <a:lstStyle/>
          <a:p>
            <a:pPr algn="l"/>
            <a:r>
              <a:rPr sz="2000" b="0" i="1">
                <a:solidFill>
                  <a:srgbClr val="3A3F47"/>
                </a:solidFill>
                <a:latin typeface="Georgia"/>
              </a:rPr>
              <a:t>Walk into the next customer with the pattern decoder ring. Listen for which row their problem sits on. Propose the pattern, not the product.</a:t>
            </a:r>
          </a:p>
        </p:txBody>
      </p:sp>
      <p:cxnSp>
        <p:nvCxnSpPr>
          <p:cNvPr id="6" name="Connector 5"/>
          <p:cNvCxnSpPr/>
          <p:nvPr/>
        </p:nvCxnSpPr>
        <p:spPr>
          <a:xfrm>
            <a:off x="731520" y="5303520"/>
            <a:ext cx="10728655" cy="0"/>
          </a:xfrm>
          <a:prstGeom prst="line">
            <a:avLst/>
          </a:prstGeom>
          <a:ln w="12700">
            <a:solidFill>
              <a:srgbClr val="C9C4B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5486400"/>
            <a:ext cx="10728655" cy="274320"/>
          </a:xfrm>
          <a:prstGeom prst="rect">
            <a:avLst/>
          </a:prstGeom>
          <a:noFill/>
        </p:spPr>
        <p:txBody>
          <a:bodyPr wrap="square" anchor="t"/>
          <a:lstStyle/>
          <a:p>
            <a:pPr algn="l"/>
            <a:r>
              <a:rPr sz="1000" b="0" i="0">
                <a:solidFill>
                  <a:srgbClr val="5C6470"/>
                </a:solidFill>
                <a:latin typeface="Consolas"/>
              </a:rPr>
              <a:t>QUESTIONS?    |    MANAV.GUPTA@IBM.COM    |    NOTEBOOKS · GITHUB.COM/...</a:t>
            </a:r>
          </a:p>
        </p:txBody>
      </p:sp>
      <p:cxnSp>
        <p:nvCxnSpPr>
          <p:cNvPr id="8" name="Connector 7"/>
          <p:cNvCxnSpPr/>
          <p:nvPr/>
        </p:nvCxnSpPr>
        <p:spPr>
          <a:xfrm>
            <a:off x="731520" y="6446520"/>
            <a:ext cx="10728655" cy="0"/>
          </a:xfrm>
          <a:prstGeom prst="line">
            <a:avLst/>
          </a:prstGeom>
          <a:ln w="9525">
            <a:solidFill>
              <a:srgbClr val="C9C4B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6519672"/>
            <a:ext cx="5486400" cy="274320"/>
          </a:xfrm>
          <a:prstGeom prst="rect">
            <a:avLst/>
          </a:prstGeom>
          <a:noFill/>
        </p:spPr>
        <p:txBody>
          <a:bodyPr wrap="square" anchor="t"/>
          <a:lstStyle/>
          <a:p>
            <a:pPr algn="l"/>
            <a:r>
              <a:rPr sz="1000" b="0" i="0">
                <a:solidFill>
                  <a:srgbClr val="5C6470"/>
                </a:solidFill>
                <a:latin typeface="Consolas"/>
              </a:rPr>
              <a:t>Close</a:t>
            </a:r>
          </a:p>
        </p:txBody>
      </p:sp>
      <p:sp>
        <p:nvSpPr>
          <p:cNvPr id="10" name="TextBox 9"/>
          <p:cNvSpPr txBox="1"/>
          <p:nvPr/>
        </p:nvSpPr>
        <p:spPr>
          <a:xfrm>
            <a:off x="10088575" y="6519672"/>
            <a:ext cx="1371600" cy="274320"/>
          </a:xfrm>
          <a:prstGeom prst="rect">
            <a:avLst/>
          </a:prstGeom>
          <a:noFill/>
        </p:spPr>
        <p:txBody>
          <a:bodyPr wrap="square" anchor="t"/>
          <a:lstStyle/>
          <a:p>
            <a:pPr algn="r"/>
            <a:r>
              <a:rPr sz="1000" b="0" i="0">
                <a:solidFill>
                  <a:srgbClr val="5C6470"/>
                </a:solidFill>
                <a:latin typeface="Consolas"/>
              </a:rPr>
              <a:t>58 / 58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